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  <p:sldMasterId id="2147483663" r:id="rId3"/>
    <p:sldMasterId id="2147483666" r:id="rId4"/>
  </p:sldMasterIdLst>
  <p:notesMasterIdLst>
    <p:notesMasterId r:id="rId27"/>
  </p:notesMasterIdLst>
  <p:handoutMasterIdLst>
    <p:handoutMasterId r:id="rId28"/>
  </p:handoutMasterIdLst>
  <p:sldIdLst>
    <p:sldId id="465" r:id="rId5"/>
    <p:sldId id="430" r:id="rId6"/>
    <p:sldId id="547" r:id="rId7"/>
    <p:sldId id="530" r:id="rId8"/>
    <p:sldId id="535" r:id="rId9"/>
    <p:sldId id="466" r:id="rId10"/>
    <p:sldId id="424" r:id="rId11"/>
    <p:sldId id="540" r:id="rId12"/>
    <p:sldId id="529" r:id="rId13"/>
    <p:sldId id="534" r:id="rId14"/>
    <p:sldId id="531" r:id="rId15"/>
    <p:sldId id="536" r:id="rId16"/>
    <p:sldId id="532" r:id="rId17"/>
    <p:sldId id="548" r:id="rId18"/>
    <p:sldId id="549" r:id="rId19"/>
    <p:sldId id="550" r:id="rId20"/>
    <p:sldId id="551" r:id="rId21"/>
    <p:sldId id="554" r:id="rId22"/>
    <p:sldId id="555" r:id="rId23"/>
    <p:sldId id="533" r:id="rId24"/>
    <p:sldId id="556" r:id="rId25"/>
    <p:sldId id="512" r:id="rId26"/>
  </p:sldIdLst>
  <p:sldSz cx="12192000" cy="6858000"/>
  <p:notesSz cx="6810375" cy="99425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3D2"/>
    <a:srgbClr val="DBD7BF"/>
    <a:srgbClr val="EDEBDF"/>
    <a:srgbClr val="C7C19D"/>
    <a:srgbClr val="D2CEAE"/>
    <a:srgbClr val="E1DEC9"/>
    <a:srgbClr val="EBEBEB"/>
    <a:srgbClr val="21154A"/>
    <a:srgbClr val="E3E9E8"/>
    <a:srgbClr val="FAD9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77" autoAdjust="0"/>
    <p:restoredTop sz="95268" autoAdjust="0"/>
  </p:normalViewPr>
  <p:slideViewPr>
    <p:cSldViewPr snapToGrid="0">
      <p:cViewPr varScale="1">
        <p:scale>
          <a:sx n="86" d="100"/>
          <a:sy n="86" d="100"/>
        </p:scale>
        <p:origin x="59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327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2F457470-328C-4C32-9B25-BE33D9C8959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116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B39BABA-622C-4E6F-ADAB-F1B258487D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7625" y="0"/>
            <a:ext cx="295116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2583F4-F2CF-4DEF-8AAA-916B8BD4619F}" type="datetimeFigureOut">
              <a:rPr lang="fr-FR" smtClean="0"/>
              <a:t>19/09/2025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82504EB-BC8B-4F2E-95C8-91630362DB1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4038"/>
            <a:ext cx="295116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12A1D58-C27D-4569-876C-0DDC916AEF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7625" y="9444038"/>
            <a:ext cx="295116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F94A99-1E61-43B8-87BE-687EC3ADF9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85176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116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7625" y="0"/>
            <a:ext cx="295116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01A983-C06C-49DA-9247-5A743363DC5F}" type="datetimeFigureOut">
              <a:rPr lang="fr-FR" smtClean="0"/>
              <a:t>19/09/2025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5825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1038" y="4784725"/>
            <a:ext cx="5448300" cy="3914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44038"/>
            <a:ext cx="295116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7625" y="9444038"/>
            <a:ext cx="295116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FC11C3-EE1B-4BD0-8768-E970EF5361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099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fond fonc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ZoneTexte 11">
            <a:extLst>
              <a:ext uri="{FF2B5EF4-FFF2-40B4-BE49-F238E27FC236}">
                <a16:creationId xmlns:a16="http://schemas.microsoft.com/office/drawing/2014/main" id="{CFB878D9-24BF-4492-B96C-DA363E3D4958}"/>
              </a:ext>
            </a:extLst>
          </p:cNvPr>
          <p:cNvSpPr txBox="1"/>
          <p:nvPr userDrawn="1"/>
        </p:nvSpPr>
        <p:spPr>
          <a:xfrm>
            <a:off x="-20014" y="111686"/>
            <a:ext cx="540000" cy="369332"/>
          </a:xfrm>
          <a:prstGeom prst="rect">
            <a:avLst/>
          </a:prstGeom>
          <a:noFill/>
        </p:spPr>
        <p:txBody>
          <a:bodyPr wrap="none" rtlCol="0">
            <a:noAutofit/>
          </a:bodyPr>
          <a:lstStyle>
            <a:defPPr>
              <a:defRPr lang="fr-FR"/>
            </a:defPPr>
            <a:lvl1pPr algn="ctr">
              <a:defRPr b="1">
                <a:solidFill>
                  <a:srgbClr val="21154A"/>
                </a:solidFill>
                <a:latin typeface="Sora ExtraBold" pitchFamily="2" charset="0"/>
                <a:cs typeface="Sora ExtraBold" pitchFamily="2" charset="0"/>
              </a:defRPr>
            </a:lvl1pPr>
          </a:lstStyle>
          <a:p>
            <a:pPr lvl="0"/>
            <a:fld id="{E50C896B-190F-4C0F-ABAC-B91C9F677B2F}" type="slidenum">
              <a:rPr lang="fr-FR" sz="1600" smtClean="0">
                <a:solidFill>
                  <a:schemeClr val="bg1"/>
                </a:solidFill>
              </a:rPr>
              <a:pPr lvl="0"/>
              <a:t>‹N°›</a:t>
            </a:fld>
            <a:endParaRPr lang="fr-FR" sz="1600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D85EAB-17CE-46F9-986F-CEAE42DBB9AA}"/>
              </a:ext>
            </a:extLst>
          </p:cNvPr>
          <p:cNvSpPr/>
          <p:nvPr userDrawn="1"/>
        </p:nvSpPr>
        <p:spPr bwMode="auto">
          <a:xfrm rot="16200000">
            <a:off x="-1217833" y="1813920"/>
            <a:ext cx="294533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fr-FR" sz="900" dirty="0">
                <a:solidFill>
                  <a:schemeClr val="bg1"/>
                </a:solidFill>
                <a:latin typeface="Sora" pitchFamily="2" charset="0"/>
                <a:cs typeface="Sora" pitchFamily="2" charset="0"/>
              </a:rPr>
              <a:t>IUT de Roanne</a:t>
            </a:r>
            <a:r>
              <a:rPr lang="fr-FR" sz="900" dirty="0">
                <a:solidFill>
                  <a:schemeClr val="bg1"/>
                </a:solidFill>
                <a:latin typeface="Sora ExtraLight" pitchFamily="2" charset="0"/>
                <a:cs typeface="Sora ExtraLight" pitchFamily="2" charset="0"/>
              </a:rPr>
              <a:t>    Université Jean Monnet</a:t>
            </a:r>
          </a:p>
        </p:txBody>
      </p:sp>
    </p:spTree>
    <p:extLst>
      <p:ext uri="{BB962C8B-B14F-4D97-AF65-F5344CB8AC3E}">
        <p14:creationId xmlns:p14="http://schemas.microsoft.com/office/powerpoint/2010/main" val="1799595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intercalaire fond fonc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48526DA-816E-46B0-9406-49F71DDA596B}"/>
              </a:ext>
            </a:extLst>
          </p:cNvPr>
          <p:cNvSpPr/>
          <p:nvPr userDrawn="1"/>
        </p:nvSpPr>
        <p:spPr bwMode="auto">
          <a:xfrm rot="16200000">
            <a:off x="-1226459" y="1528785"/>
            <a:ext cx="294533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fr-FR" sz="900" dirty="0">
                <a:solidFill>
                  <a:schemeClr val="bg1"/>
                </a:solidFill>
                <a:latin typeface="Sora" pitchFamily="2" charset="0"/>
                <a:cs typeface="Sora" pitchFamily="2" charset="0"/>
              </a:rPr>
              <a:t>BUT R&amp;T - IUT de Roanne</a:t>
            </a:r>
            <a:r>
              <a:rPr lang="fr-FR" sz="900" dirty="0">
                <a:solidFill>
                  <a:schemeClr val="bg1"/>
                </a:solidFill>
                <a:latin typeface="Sora ExtraLight" pitchFamily="2" charset="0"/>
                <a:cs typeface="Sora ExtraLight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37958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fond 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FE86BB0-CAF5-4C2E-8837-50AC14E47B94}"/>
              </a:ext>
            </a:extLst>
          </p:cNvPr>
          <p:cNvSpPr/>
          <p:nvPr userDrawn="1"/>
        </p:nvSpPr>
        <p:spPr bwMode="auto">
          <a:xfrm rot="16200000">
            <a:off x="-1217833" y="1813920"/>
            <a:ext cx="294533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fr-FR" sz="900" dirty="0">
                <a:solidFill>
                  <a:srgbClr val="21154A"/>
                </a:solidFill>
                <a:latin typeface="Sora" pitchFamily="2" charset="0"/>
                <a:cs typeface="Sora" pitchFamily="2" charset="0"/>
              </a:rPr>
              <a:t>BUT R&amp;T - IUT de Roanne</a:t>
            </a:r>
            <a:endParaRPr lang="fr-FR" sz="900" dirty="0">
              <a:solidFill>
                <a:srgbClr val="21154A"/>
              </a:solidFill>
              <a:latin typeface="Sora ExtraLight" pitchFamily="2" charset="0"/>
              <a:cs typeface="Sora ExtraLight" pitchFamily="2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43E453A-EBA5-4EE0-A787-63021380529C}"/>
              </a:ext>
            </a:extLst>
          </p:cNvPr>
          <p:cNvSpPr txBox="1"/>
          <p:nvPr userDrawn="1"/>
        </p:nvSpPr>
        <p:spPr>
          <a:xfrm>
            <a:off x="-20014" y="111686"/>
            <a:ext cx="540000" cy="369332"/>
          </a:xfrm>
          <a:prstGeom prst="rect">
            <a:avLst/>
          </a:prstGeom>
          <a:noFill/>
        </p:spPr>
        <p:txBody>
          <a:bodyPr wrap="none" rtlCol="0">
            <a:noAutofit/>
          </a:bodyPr>
          <a:lstStyle>
            <a:defPPr>
              <a:defRPr lang="fr-FR"/>
            </a:defPPr>
            <a:lvl1pPr algn="ctr">
              <a:defRPr b="1">
                <a:solidFill>
                  <a:srgbClr val="21154A"/>
                </a:solidFill>
                <a:latin typeface="Sora ExtraBold" pitchFamily="2" charset="0"/>
                <a:cs typeface="Sora ExtraBold" pitchFamily="2" charset="0"/>
              </a:defRPr>
            </a:lvl1pPr>
          </a:lstStyle>
          <a:p>
            <a:pPr lvl="0"/>
            <a:fld id="{E50C896B-190F-4C0F-ABAC-B91C9F677B2F}" type="slidenum">
              <a:rPr lang="fr-FR" sz="1600" smtClean="0">
                <a:solidFill>
                  <a:srgbClr val="21154A"/>
                </a:solidFill>
              </a:rPr>
              <a:pPr lvl="0"/>
              <a:t>‹N°›</a:t>
            </a:fld>
            <a:endParaRPr lang="fr-FR" sz="1600" dirty="0">
              <a:solidFill>
                <a:srgbClr val="2115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0777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intercalaire fond 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6B37DC6-E271-4A8D-BBB6-BBA10614D3D5}"/>
              </a:ext>
            </a:extLst>
          </p:cNvPr>
          <p:cNvSpPr/>
          <p:nvPr userDrawn="1"/>
        </p:nvSpPr>
        <p:spPr bwMode="auto">
          <a:xfrm rot="16200000">
            <a:off x="-1226459" y="1528785"/>
            <a:ext cx="294533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fr-FR" sz="900" dirty="0">
                <a:solidFill>
                  <a:srgbClr val="21154A"/>
                </a:solidFill>
                <a:latin typeface="Sora" pitchFamily="2" charset="0"/>
                <a:cs typeface="Sora" pitchFamily="2" charset="0"/>
              </a:rPr>
              <a:t>IUT de Roanne</a:t>
            </a:r>
            <a:r>
              <a:rPr lang="fr-FR" sz="900" dirty="0">
                <a:solidFill>
                  <a:srgbClr val="21154A"/>
                </a:solidFill>
                <a:latin typeface="Sora ExtraLight" pitchFamily="2" charset="0"/>
                <a:cs typeface="Sora ExtraLight" pitchFamily="2" charset="0"/>
              </a:rPr>
              <a:t>    Université Jean Monnet</a:t>
            </a:r>
          </a:p>
        </p:txBody>
      </p:sp>
    </p:spTree>
    <p:extLst>
      <p:ext uri="{BB962C8B-B14F-4D97-AF65-F5344CB8AC3E}">
        <p14:creationId xmlns:p14="http://schemas.microsoft.com/office/powerpoint/2010/main" val="1249527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4216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fond 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FE86BB0-CAF5-4C2E-8837-50AC14E47B94}"/>
              </a:ext>
            </a:extLst>
          </p:cNvPr>
          <p:cNvSpPr/>
          <p:nvPr userDrawn="1"/>
        </p:nvSpPr>
        <p:spPr bwMode="auto">
          <a:xfrm rot="16200000">
            <a:off x="-1217833" y="1813920"/>
            <a:ext cx="294533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fr-FR" sz="900" dirty="0">
                <a:solidFill>
                  <a:srgbClr val="21154A"/>
                </a:solidFill>
                <a:latin typeface="Sora" pitchFamily="2" charset="0"/>
                <a:cs typeface="Sora" pitchFamily="2" charset="0"/>
              </a:rPr>
              <a:t>BUT R&amp;T - IUT de Roanne</a:t>
            </a:r>
            <a:endParaRPr lang="fr-FR" sz="900" dirty="0">
              <a:solidFill>
                <a:srgbClr val="21154A"/>
              </a:solidFill>
              <a:latin typeface="Sora ExtraLight" pitchFamily="2" charset="0"/>
              <a:cs typeface="Sora ExtraLight" pitchFamily="2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43E453A-EBA5-4EE0-A787-63021380529C}"/>
              </a:ext>
            </a:extLst>
          </p:cNvPr>
          <p:cNvSpPr txBox="1"/>
          <p:nvPr userDrawn="1"/>
        </p:nvSpPr>
        <p:spPr>
          <a:xfrm>
            <a:off x="-20014" y="111686"/>
            <a:ext cx="540000" cy="369332"/>
          </a:xfrm>
          <a:prstGeom prst="rect">
            <a:avLst/>
          </a:prstGeom>
          <a:noFill/>
        </p:spPr>
        <p:txBody>
          <a:bodyPr wrap="none" rtlCol="0">
            <a:noAutofit/>
          </a:bodyPr>
          <a:lstStyle>
            <a:defPPr>
              <a:defRPr lang="fr-FR"/>
            </a:defPPr>
            <a:lvl1pPr algn="ctr">
              <a:defRPr b="1">
                <a:solidFill>
                  <a:srgbClr val="21154A"/>
                </a:solidFill>
                <a:latin typeface="Sora ExtraBold" pitchFamily="2" charset="0"/>
                <a:cs typeface="Sora ExtraBold" pitchFamily="2" charset="0"/>
              </a:defRPr>
            </a:lvl1pPr>
          </a:lstStyle>
          <a:p>
            <a:pPr lvl="0"/>
            <a:fld id="{E50C896B-190F-4C0F-ABAC-B91C9F677B2F}" type="slidenum">
              <a:rPr lang="fr-FR" sz="1600" smtClean="0">
                <a:solidFill>
                  <a:srgbClr val="21154A"/>
                </a:solidFill>
              </a:rPr>
              <a:pPr lvl="0"/>
              <a:t>‹N°›</a:t>
            </a:fld>
            <a:endParaRPr lang="fr-FR" sz="1600" dirty="0">
              <a:solidFill>
                <a:srgbClr val="2115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2022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intercalaire fond 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6B37DC6-E271-4A8D-BBB6-BBA10614D3D5}"/>
              </a:ext>
            </a:extLst>
          </p:cNvPr>
          <p:cNvSpPr/>
          <p:nvPr userDrawn="1"/>
        </p:nvSpPr>
        <p:spPr bwMode="auto">
          <a:xfrm rot="16200000">
            <a:off x="-1226459" y="1528785"/>
            <a:ext cx="294533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fr-FR" sz="900" dirty="0">
                <a:solidFill>
                  <a:srgbClr val="21154A"/>
                </a:solidFill>
                <a:latin typeface="Sora" pitchFamily="2" charset="0"/>
                <a:cs typeface="Sora" pitchFamily="2" charset="0"/>
              </a:rPr>
              <a:t>IUT de Roanne</a:t>
            </a:r>
            <a:r>
              <a:rPr lang="fr-FR" sz="900" dirty="0">
                <a:solidFill>
                  <a:srgbClr val="21154A"/>
                </a:solidFill>
                <a:latin typeface="Sora ExtraLight" pitchFamily="2" charset="0"/>
                <a:cs typeface="Sora ExtraLight" pitchFamily="2" charset="0"/>
              </a:rPr>
              <a:t>    Université Jean Monnet</a:t>
            </a:r>
          </a:p>
        </p:txBody>
      </p:sp>
    </p:spTree>
    <p:extLst>
      <p:ext uri="{BB962C8B-B14F-4D97-AF65-F5344CB8AC3E}">
        <p14:creationId xmlns:p14="http://schemas.microsoft.com/office/powerpoint/2010/main" val="939223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llipse 7">
            <a:extLst>
              <a:ext uri="{FF2B5EF4-FFF2-40B4-BE49-F238E27FC236}">
                <a16:creationId xmlns:a16="http://schemas.microsoft.com/office/drawing/2014/main" id="{7FECCE96-9F33-4E98-AC6A-991CF754B9BA}"/>
              </a:ext>
            </a:extLst>
          </p:cNvPr>
          <p:cNvSpPr/>
          <p:nvPr userDrawn="1"/>
        </p:nvSpPr>
        <p:spPr>
          <a:xfrm>
            <a:off x="222986" y="3402000"/>
            <a:ext cx="54000" cy="54000"/>
          </a:xfrm>
          <a:prstGeom prst="ellipse">
            <a:avLst/>
          </a:prstGeom>
          <a:solidFill>
            <a:schemeClr val="bg1">
              <a:alpha val="5098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985911-9DE5-468A-B55F-B9442DD54CCE}"/>
              </a:ext>
            </a:extLst>
          </p:cNvPr>
          <p:cNvSpPr/>
          <p:nvPr userDrawn="1"/>
        </p:nvSpPr>
        <p:spPr bwMode="auto">
          <a:xfrm rot="16200000">
            <a:off x="-1387805" y="4945429"/>
            <a:ext cx="328663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fr-FR" sz="1400" dirty="0">
                <a:solidFill>
                  <a:schemeClr val="bg1"/>
                </a:solidFill>
                <a:latin typeface="Sora ExtraBold" pitchFamily="2" charset="0"/>
                <a:cs typeface="Sora ExtraLight" pitchFamily="2" charset="0"/>
              </a:rPr>
              <a:t>SAE3&amp;4.PORTOLIO</a:t>
            </a:r>
            <a:endParaRPr lang="fr-FR" sz="1400" dirty="0">
              <a:solidFill>
                <a:schemeClr val="bg1"/>
              </a:solidFill>
              <a:latin typeface="Sora ExtraLight" pitchFamily="2" charset="0"/>
              <a:cs typeface="Sora Extra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4075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6">
            <a:extLst>
              <a:ext uri="{FF2B5EF4-FFF2-40B4-BE49-F238E27FC236}">
                <a16:creationId xmlns:a16="http://schemas.microsoft.com/office/drawing/2014/main" id="{322173A9-5C2A-4256-A212-5AEFCA6FD700}"/>
              </a:ext>
            </a:extLst>
          </p:cNvPr>
          <p:cNvSpPr/>
          <p:nvPr userDrawn="1"/>
        </p:nvSpPr>
        <p:spPr>
          <a:xfrm>
            <a:off x="222986" y="3402000"/>
            <a:ext cx="54000" cy="54000"/>
          </a:xfrm>
          <a:prstGeom prst="ellipse">
            <a:avLst/>
          </a:prstGeom>
          <a:solidFill>
            <a:srgbClr val="21154A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21154A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301355-A220-4090-ACF5-01FF4D24CAA9}"/>
              </a:ext>
            </a:extLst>
          </p:cNvPr>
          <p:cNvSpPr/>
          <p:nvPr userDrawn="1"/>
        </p:nvSpPr>
        <p:spPr bwMode="auto">
          <a:xfrm rot="16200000">
            <a:off x="-1387805" y="4945429"/>
            <a:ext cx="328663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fr-FR" sz="1400" dirty="0">
                <a:solidFill>
                  <a:srgbClr val="21154A"/>
                </a:solidFill>
                <a:latin typeface="Sora ExtraBold" pitchFamily="2" charset="0"/>
                <a:cs typeface="Sora ExtraLight" pitchFamily="2" charset="0"/>
              </a:rPr>
              <a:t>SAE3&amp;4.PORTFOLIO</a:t>
            </a:r>
            <a:endParaRPr lang="fr-FR" sz="1400" dirty="0">
              <a:solidFill>
                <a:srgbClr val="21154A"/>
              </a:solidFill>
              <a:latin typeface="Sora ExtraLight" pitchFamily="2" charset="0"/>
              <a:cs typeface="Sora Extra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3628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8178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6">
            <a:extLst>
              <a:ext uri="{FF2B5EF4-FFF2-40B4-BE49-F238E27FC236}">
                <a16:creationId xmlns:a16="http://schemas.microsoft.com/office/drawing/2014/main" id="{322173A9-5C2A-4256-A212-5AEFCA6FD700}"/>
              </a:ext>
            </a:extLst>
          </p:cNvPr>
          <p:cNvSpPr/>
          <p:nvPr userDrawn="1"/>
        </p:nvSpPr>
        <p:spPr>
          <a:xfrm>
            <a:off x="222986" y="3402000"/>
            <a:ext cx="54000" cy="54000"/>
          </a:xfrm>
          <a:prstGeom prst="ellipse">
            <a:avLst/>
          </a:prstGeom>
          <a:solidFill>
            <a:srgbClr val="21154A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21154A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301355-A220-4090-ACF5-01FF4D24CAA9}"/>
              </a:ext>
            </a:extLst>
          </p:cNvPr>
          <p:cNvSpPr/>
          <p:nvPr userDrawn="1"/>
        </p:nvSpPr>
        <p:spPr bwMode="auto">
          <a:xfrm rot="16200000">
            <a:off x="-1387805" y="4945429"/>
            <a:ext cx="328663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fr-FR" sz="1400" dirty="0">
                <a:solidFill>
                  <a:srgbClr val="21154A"/>
                </a:solidFill>
                <a:latin typeface="Sora ExtraBold" pitchFamily="2" charset="0"/>
                <a:cs typeface="Sora ExtraLight" pitchFamily="2" charset="0"/>
              </a:rPr>
              <a:t>SAE5&amp;6.PORTFOLIO</a:t>
            </a:r>
            <a:endParaRPr lang="fr-FR" sz="1400" dirty="0">
              <a:solidFill>
                <a:srgbClr val="21154A"/>
              </a:solidFill>
              <a:latin typeface="Sora ExtraLight" pitchFamily="2" charset="0"/>
              <a:cs typeface="Sora Extra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807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B10960AC-3B71-4F58-8B07-00AD41F97AB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15543" y="217714"/>
            <a:ext cx="7576456" cy="664028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5367FF61-EAED-4F40-9E69-487C797D82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01DE2AD-2E19-4A11-AEAB-2A9B71D1CDD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8022" y="5845091"/>
            <a:ext cx="1962995" cy="86861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43E5B3C-3E6B-4924-979E-360D316E65F5}"/>
              </a:ext>
            </a:extLst>
          </p:cNvPr>
          <p:cNvSpPr/>
          <p:nvPr/>
        </p:nvSpPr>
        <p:spPr bwMode="auto">
          <a:xfrm>
            <a:off x="361949" y="3863061"/>
            <a:ext cx="4769343" cy="735586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lvl="0">
              <a:lnSpc>
                <a:spcPct val="95000"/>
              </a:lnSpc>
            </a:pPr>
            <a:r>
              <a:rPr lang="fr-FR" sz="4400" dirty="0">
                <a:solidFill>
                  <a:srgbClr val="21154A"/>
                </a:solidFill>
                <a:latin typeface="Sora SemiBold" pitchFamily="2" charset="0"/>
                <a:cs typeface="Sora SemiBold" pitchFamily="2" charset="0"/>
              </a:rPr>
              <a:t>SAE3&amp;4.PORTFOLIO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5CA8172-3ADF-4DE4-B4EB-249D25A9A8F2}"/>
              </a:ext>
            </a:extLst>
          </p:cNvPr>
          <p:cNvSpPr txBox="1"/>
          <p:nvPr/>
        </p:nvSpPr>
        <p:spPr>
          <a:xfrm>
            <a:off x="361950" y="4735884"/>
            <a:ext cx="45897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accent1"/>
                </a:solidFill>
                <a:latin typeface="Sora ExtraLight" pitchFamily="2" charset="0"/>
                <a:cs typeface="Sora ExtraLight" pitchFamily="2" charset="0"/>
              </a:rPr>
              <a:t>2025/2026</a:t>
            </a:r>
            <a:endParaRPr lang="fr-FR" sz="2800" dirty="0">
              <a:solidFill>
                <a:schemeClr val="accent1"/>
              </a:solidFill>
              <a:latin typeface="Sora ExtraLight" pitchFamily="2" charset="0"/>
              <a:cs typeface="Sora ExtraLight" pitchFamily="2" charset="0"/>
            </a:endParaRP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4B8D961C-CE06-4A61-8FB1-59BB79FE4329}"/>
              </a:ext>
            </a:extLst>
          </p:cNvPr>
          <p:cNvCxnSpPr/>
          <p:nvPr/>
        </p:nvCxnSpPr>
        <p:spPr>
          <a:xfrm>
            <a:off x="464265" y="4645880"/>
            <a:ext cx="3371850" cy="0"/>
          </a:xfrm>
          <a:prstGeom prst="line">
            <a:avLst/>
          </a:prstGeom>
          <a:ln>
            <a:solidFill>
              <a:srgbClr val="2115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2448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D3CD38-2BEC-420B-9360-9D0F7A96BF28}"/>
              </a:ext>
            </a:extLst>
          </p:cNvPr>
          <p:cNvSpPr/>
          <p:nvPr/>
        </p:nvSpPr>
        <p:spPr bwMode="auto">
          <a:xfrm>
            <a:off x="1618902" y="894805"/>
            <a:ext cx="793380" cy="44071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lnSpc>
                <a:spcPts val="4800"/>
              </a:lnSpc>
            </a:pPr>
            <a:r>
              <a:rPr lang="fr-FR" sz="3600" dirty="0">
                <a:solidFill>
                  <a:srgbClr val="6E928B"/>
                </a:solidFill>
                <a:latin typeface="Sora ExtraBold" pitchFamily="2" charset="0"/>
                <a:cs typeface="Sora ExtraBold" pitchFamily="2" charset="0"/>
              </a:rPr>
              <a:t>1</a:t>
            </a:r>
          </a:p>
          <a:p>
            <a:pPr lvl="0" algn="r">
              <a:lnSpc>
                <a:spcPts val="4800"/>
              </a:lnSpc>
            </a:pPr>
            <a:r>
              <a:rPr lang="fr-FR" sz="3600" dirty="0">
                <a:solidFill>
                  <a:srgbClr val="6E928B"/>
                </a:solidFill>
                <a:latin typeface="Sora ExtraBold" pitchFamily="2" charset="0"/>
                <a:cs typeface="Sora ExtraBold" pitchFamily="2" charset="0"/>
              </a:rPr>
              <a:t>2</a:t>
            </a:r>
          </a:p>
          <a:p>
            <a:pPr lvl="0" algn="r">
              <a:lnSpc>
                <a:spcPts val="4800"/>
              </a:lnSpc>
            </a:pPr>
            <a:r>
              <a:rPr lang="fr-FR" sz="3600" dirty="0">
                <a:solidFill>
                  <a:srgbClr val="6E928B"/>
                </a:solidFill>
                <a:latin typeface="Sora ExtraBold" pitchFamily="2" charset="0"/>
                <a:cs typeface="Sora ExtraBold" pitchFamily="2" charset="0"/>
              </a:rPr>
              <a:t>3</a:t>
            </a:r>
          </a:p>
          <a:p>
            <a:pPr lvl="0" algn="r">
              <a:lnSpc>
                <a:spcPts val="4800"/>
              </a:lnSpc>
            </a:pPr>
            <a:r>
              <a:rPr lang="fr-FR" sz="3600" dirty="0">
                <a:solidFill>
                  <a:srgbClr val="6E928B"/>
                </a:solidFill>
                <a:latin typeface="Sora ExtraBold" pitchFamily="2" charset="0"/>
                <a:cs typeface="Sora ExtraBold" pitchFamily="2" charset="0"/>
              </a:rPr>
              <a:t>4</a:t>
            </a:r>
          </a:p>
          <a:p>
            <a:pPr lvl="0" algn="r">
              <a:lnSpc>
                <a:spcPts val="4800"/>
              </a:lnSpc>
            </a:pPr>
            <a:r>
              <a:rPr lang="fr-FR" sz="3600" dirty="0">
                <a:solidFill>
                  <a:srgbClr val="6E928B"/>
                </a:solidFill>
                <a:latin typeface="Sora ExtraBold" pitchFamily="2" charset="0"/>
                <a:cs typeface="Sora ExtraBold" pitchFamily="2" charset="0"/>
              </a:rPr>
              <a:t>5</a:t>
            </a:r>
          </a:p>
          <a:p>
            <a:pPr lvl="0" algn="r">
              <a:lnSpc>
                <a:spcPts val="4800"/>
              </a:lnSpc>
            </a:pPr>
            <a:r>
              <a:rPr lang="fr-FR" sz="3600" dirty="0">
                <a:solidFill>
                  <a:srgbClr val="6E928B"/>
                </a:solidFill>
                <a:latin typeface="Sora ExtraBold" pitchFamily="2" charset="0"/>
                <a:cs typeface="Sora ExtraBold" pitchFamily="2" charset="0"/>
              </a:rPr>
              <a:t>6</a:t>
            </a:r>
          </a:p>
          <a:p>
            <a:pPr lvl="0" algn="r">
              <a:lnSpc>
                <a:spcPts val="4800"/>
              </a:lnSpc>
            </a:pPr>
            <a:r>
              <a:rPr lang="fr-FR" sz="3600" dirty="0">
                <a:solidFill>
                  <a:srgbClr val="6E928B"/>
                </a:solidFill>
                <a:latin typeface="Sora ExtraBold" pitchFamily="2" charset="0"/>
                <a:cs typeface="Sora ExtraBold" pitchFamily="2" charset="0"/>
              </a:rPr>
              <a:t>7</a:t>
            </a:r>
            <a:endParaRPr lang="fr-FR" sz="1050" dirty="0">
              <a:solidFill>
                <a:srgbClr val="6E928B"/>
              </a:solidFill>
              <a:latin typeface="Sora ExtraBold" pitchFamily="2" charset="0"/>
              <a:cs typeface="Sora ExtraBold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29BB20-0032-4377-A4F8-37F265DB8D01}"/>
              </a:ext>
            </a:extLst>
          </p:cNvPr>
          <p:cNvSpPr/>
          <p:nvPr/>
        </p:nvSpPr>
        <p:spPr bwMode="auto">
          <a:xfrm>
            <a:off x="2480729" y="981894"/>
            <a:ext cx="5827251" cy="44040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600"/>
              </a:lnSpc>
            </a:pPr>
            <a:endParaRPr lang="fr-FR" sz="1600" dirty="0">
              <a:solidFill>
                <a:srgbClr val="21154A"/>
              </a:solidFill>
              <a:latin typeface="Sora" pitchFamily="2" charset="0"/>
              <a:cs typeface="Sora" pitchFamily="2" charset="0"/>
            </a:endParaRPr>
          </a:p>
          <a:p>
            <a:pPr>
              <a:lnSpc>
                <a:spcPts val="1600"/>
              </a:lnSpc>
            </a:pPr>
            <a:r>
              <a:rPr lang="fr-FR" sz="1600" dirty="0">
                <a:solidFill>
                  <a:srgbClr val="21154A"/>
                </a:solidFill>
                <a:latin typeface="Sora" pitchFamily="2" charset="0"/>
                <a:cs typeface="Sora" pitchFamily="2" charset="0"/>
              </a:rPr>
              <a:t>Les Compétences BUT 2</a:t>
            </a:r>
          </a:p>
          <a:p>
            <a:pPr lvl="0">
              <a:lnSpc>
                <a:spcPts val="1600"/>
              </a:lnSpc>
            </a:pPr>
            <a:endParaRPr lang="fr-FR" sz="1600" dirty="0">
              <a:solidFill>
                <a:srgbClr val="21154A"/>
              </a:solidFill>
              <a:latin typeface="Sora" pitchFamily="2" charset="0"/>
              <a:cs typeface="Sora" pitchFamily="2" charset="0"/>
            </a:endParaRPr>
          </a:p>
          <a:p>
            <a:pPr lvl="0">
              <a:lnSpc>
                <a:spcPts val="1600"/>
              </a:lnSpc>
            </a:pPr>
            <a:endParaRPr lang="fr-FR" sz="1600" dirty="0">
              <a:solidFill>
                <a:srgbClr val="21154A"/>
              </a:solidFill>
              <a:latin typeface="Sora" pitchFamily="2" charset="0"/>
              <a:cs typeface="Sora" pitchFamily="2" charset="0"/>
            </a:endParaRPr>
          </a:p>
          <a:p>
            <a:pPr lvl="0">
              <a:lnSpc>
                <a:spcPts val="1600"/>
              </a:lnSpc>
            </a:pPr>
            <a:r>
              <a:rPr lang="fr-FR" sz="1600" dirty="0">
                <a:solidFill>
                  <a:srgbClr val="21154A"/>
                </a:solidFill>
                <a:latin typeface="Sora" pitchFamily="2" charset="0"/>
                <a:cs typeface="Sora" pitchFamily="2" charset="0"/>
              </a:rPr>
              <a:t>Le PORTFOLIO</a:t>
            </a:r>
          </a:p>
          <a:p>
            <a:pPr lvl="0">
              <a:lnSpc>
                <a:spcPts val="1600"/>
              </a:lnSpc>
            </a:pPr>
            <a:endParaRPr lang="fr-FR" sz="1600" dirty="0">
              <a:solidFill>
                <a:srgbClr val="21154A"/>
              </a:solidFill>
              <a:latin typeface="Sora" pitchFamily="2" charset="0"/>
              <a:cs typeface="Sora" pitchFamily="2" charset="0"/>
            </a:endParaRPr>
          </a:p>
          <a:p>
            <a:pPr lvl="0">
              <a:lnSpc>
                <a:spcPts val="1600"/>
              </a:lnSpc>
            </a:pPr>
            <a:endParaRPr lang="fr-FR" sz="1600" dirty="0">
              <a:solidFill>
                <a:srgbClr val="21154A"/>
              </a:solidFill>
              <a:latin typeface="Sora" pitchFamily="2" charset="0"/>
              <a:cs typeface="Sora" pitchFamily="2" charset="0"/>
            </a:endParaRPr>
          </a:p>
          <a:p>
            <a:pPr lvl="0">
              <a:lnSpc>
                <a:spcPts val="1600"/>
              </a:lnSpc>
            </a:pPr>
            <a:r>
              <a:rPr lang="fr-FR" sz="1600" dirty="0">
                <a:solidFill>
                  <a:srgbClr val="21154A"/>
                </a:solidFill>
                <a:latin typeface="Sora" pitchFamily="2" charset="0"/>
                <a:cs typeface="Sora" pitchFamily="2" charset="0"/>
              </a:rPr>
              <a:t>Le E-PORTFOLIO</a:t>
            </a:r>
          </a:p>
          <a:p>
            <a:pPr lvl="0">
              <a:lnSpc>
                <a:spcPts val="1600"/>
              </a:lnSpc>
            </a:pPr>
            <a:endParaRPr lang="fr-FR" sz="1600" dirty="0">
              <a:solidFill>
                <a:srgbClr val="21154A"/>
              </a:solidFill>
              <a:latin typeface="Sora" pitchFamily="2" charset="0"/>
              <a:cs typeface="Sora" pitchFamily="2" charset="0"/>
            </a:endParaRPr>
          </a:p>
          <a:p>
            <a:pPr lvl="0">
              <a:lnSpc>
                <a:spcPts val="1600"/>
              </a:lnSpc>
            </a:pPr>
            <a:endParaRPr lang="fr-FR" sz="1600" dirty="0">
              <a:solidFill>
                <a:srgbClr val="21154A"/>
              </a:solidFill>
              <a:latin typeface="Sora" pitchFamily="2" charset="0"/>
              <a:cs typeface="Sora" pitchFamily="2" charset="0"/>
            </a:endParaRPr>
          </a:p>
          <a:p>
            <a:pPr lvl="0">
              <a:lnSpc>
                <a:spcPts val="1600"/>
              </a:lnSpc>
            </a:pPr>
            <a:r>
              <a:rPr lang="fr-FR" sz="1600" dirty="0">
                <a:solidFill>
                  <a:srgbClr val="21154A"/>
                </a:solidFill>
                <a:latin typeface="Sora" pitchFamily="2" charset="0"/>
                <a:cs typeface="Sora" pitchFamily="2" charset="0"/>
              </a:rPr>
              <a:t>Les Preuves</a:t>
            </a:r>
          </a:p>
          <a:p>
            <a:pPr lvl="0">
              <a:lnSpc>
                <a:spcPts val="1600"/>
              </a:lnSpc>
            </a:pPr>
            <a:endParaRPr lang="fr-FR" sz="1600" dirty="0">
              <a:solidFill>
                <a:srgbClr val="21154A"/>
              </a:solidFill>
              <a:latin typeface="Sora" pitchFamily="2" charset="0"/>
              <a:cs typeface="Sora" pitchFamily="2" charset="0"/>
            </a:endParaRPr>
          </a:p>
          <a:p>
            <a:pPr lvl="0">
              <a:lnSpc>
                <a:spcPts val="1600"/>
              </a:lnSpc>
            </a:pPr>
            <a:endParaRPr lang="fr-FR" sz="1600" dirty="0">
              <a:solidFill>
                <a:srgbClr val="21154A"/>
              </a:solidFill>
              <a:latin typeface="Sora" pitchFamily="2" charset="0"/>
              <a:cs typeface="Sora" pitchFamily="2" charset="0"/>
            </a:endParaRPr>
          </a:p>
          <a:p>
            <a:pPr lvl="0">
              <a:lnSpc>
                <a:spcPts val="1600"/>
              </a:lnSpc>
            </a:pPr>
            <a:r>
              <a:rPr lang="fr-FR" sz="1600" dirty="0">
                <a:solidFill>
                  <a:srgbClr val="21154A"/>
                </a:solidFill>
                <a:latin typeface="Sora" pitchFamily="2" charset="0"/>
                <a:cs typeface="Sora" pitchFamily="2" charset="0"/>
              </a:rPr>
              <a:t>L’Analyse Réflexive</a:t>
            </a:r>
          </a:p>
          <a:p>
            <a:pPr lvl="0">
              <a:lnSpc>
                <a:spcPts val="1600"/>
              </a:lnSpc>
            </a:pPr>
            <a:endParaRPr lang="fr-FR" sz="1600" dirty="0">
              <a:solidFill>
                <a:srgbClr val="21154A"/>
              </a:solidFill>
              <a:latin typeface="Sora" pitchFamily="2" charset="0"/>
              <a:cs typeface="Sora" pitchFamily="2" charset="0"/>
            </a:endParaRPr>
          </a:p>
          <a:p>
            <a:pPr lvl="0">
              <a:lnSpc>
                <a:spcPts val="1600"/>
              </a:lnSpc>
            </a:pPr>
            <a:endParaRPr lang="fr-FR" sz="1600" dirty="0">
              <a:solidFill>
                <a:srgbClr val="21154A"/>
              </a:solidFill>
              <a:latin typeface="Sora" pitchFamily="2" charset="0"/>
              <a:cs typeface="Sora" pitchFamily="2" charset="0"/>
            </a:endParaRPr>
          </a:p>
          <a:p>
            <a:pPr lvl="0">
              <a:lnSpc>
                <a:spcPts val="1600"/>
              </a:lnSpc>
            </a:pPr>
            <a:r>
              <a:rPr lang="fr-FR" sz="1600" dirty="0">
                <a:solidFill>
                  <a:srgbClr val="21154A"/>
                </a:solidFill>
                <a:latin typeface="Sora" pitchFamily="2" charset="0"/>
                <a:cs typeface="Sora" pitchFamily="2" charset="0"/>
              </a:rPr>
              <a:t>Les Evaluations PORTFOLIO</a:t>
            </a:r>
          </a:p>
          <a:p>
            <a:pPr lvl="0">
              <a:lnSpc>
                <a:spcPts val="1600"/>
              </a:lnSpc>
            </a:pPr>
            <a:endParaRPr lang="fr-FR" sz="1600" dirty="0">
              <a:solidFill>
                <a:srgbClr val="21154A"/>
              </a:solidFill>
              <a:latin typeface="Sora" pitchFamily="2" charset="0"/>
              <a:cs typeface="Sora" pitchFamily="2" charset="0"/>
            </a:endParaRPr>
          </a:p>
          <a:p>
            <a:pPr lvl="0">
              <a:lnSpc>
                <a:spcPts val="1600"/>
              </a:lnSpc>
            </a:pPr>
            <a:endParaRPr lang="fr-FR" sz="1600" dirty="0">
              <a:solidFill>
                <a:srgbClr val="21154A"/>
              </a:solidFill>
              <a:latin typeface="Sora" pitchFamily="2" charset="0"/>
              <a:cs typeface="Sora" pitchFamily="2" charset="0"/>
            </a:endParaRPr>
          </a:p>
          <a:p>
            <a:pPr lvl="0">
              <a:lnSpc>
                <a:spcPts val="1600"/>
              </a:lnSpc>
            </a:pPr>
            <a:r>
              <a:rPr lang="fr-FR" sz="1600" dirty="0">
                <a:solidFill>
                  <a:srgbClr val="21154A"/>
                </a:solidFill>
                <a:latin typeface="Sora" pitchFamily="2" charset="0"/>
                <a:cs typeface="Sora" pitchFamily="2" charset="0"/>
              </a:rPr>
              <a:t>Les Evaluations Recherche Stage / Alternance</a:t>
            </a:r>
          </a:p>
          <a:p>
            <a:pPr lvl="0">
              <a:lnSpc>
                <a:spcPts val="1600"/>
              </a:lnSpc>
            </a:pPr>
            <a:endParaRPr lang="fr-FR" sz="1600" dirty="0">
              <a:solidFill>
                <a:srgbClr val="21154A"/>
              </a:solidFill>
              <a:latin typeface="Sora" pitchFamily="2" charset="0"/>
              <a:cs typeface="Sor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0385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D3CD38-2BEC-420B-9360-9D0F7A96BF28}"/>
              </a:ext>
            </a:extLst>
          </p:cNvPr>
          <p:cNvSpPr/>
          <p:nvPr/>
        </p:nvSpPr>
        <p:spPr bwMode="auto">
          <a:xfrm>
            <a:off x="1595981" y="1106181"/>
            <a:ext cx="4853574" cy="4170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fr-FR" sz="1200" dirty="0">
                <a:solidFill>
                  <a:srgbClr val="21154A"/>
                </a:solidFill>
                <a:latin typeface="Sora ExtraLight" pitchFamily="2" charset="0"/>
                <a:cs typeface="Sora ExtraLight" pitchFamily="2" charset="0"/>
              </a:rPr>
              <a:t>Portfolio</a:t>
            </a:r>
          </a:p>
          <a:p>
            <a:pPr lvl="0"/>
            <a:r>
              <a:rPr lang="fr-FR" sz="4000" dirty="0">
                <a:solidFill>
                  <a:srgbClr val="21154A"/>
                </a:solidFill>
                <a:latin typeface="Sora ExtraBold" pitchFamily="2" charset="0"/>
                <a:cs typeface="Sora ExtraBold" pitchFamily="2" charset="0"/>
              </a:rPr>
              <a:t>Le </a:t>
            </a:r>
            <a:r>
              <a:rPr lang="fr-FR" sz="4000" dirty="0">
                <a:solidFill>
                  <a:srgbClr val="6F938C"/>
                </a:solidFill>
                <a:latin typeface="Sora ExtraBold" pitchFamily="2" charset="0"/>
                <a:cs typeface="Sora ExtraBold" pitchFamily="2" charset="0"/>
              </a:rPr>
              <a:t>PORTFOLIO</a:t>
            </a:r>
          </a:p>
          <a:p>
            <a:pPr lvl="0"/>
            <a:endParaRPr lang="fr-FR" sz="1300" dirty="0">
              <a:solidFill>
                <a:srgbClr val="21154A"/>
              </a:solidFill>
              <a:latin typeface="Barlow" panose="00000500000000000000" pitchFamily="2" charset="0"/>
              <a:cs typeface="Sora" pitchFamily="2" charset="0"/>
            </a:endParaRPr>
          </a:p>
          <a:p>
            <a:pPr lvl="0"/>
            <a:r>
              <a:rPr lang="fr-FR" sz="2000" b="1" dirty="0">
                <a:solidFill>
                  <a:schemeClr val="accent1"/>
                </a:solidFill>
                <a:latin typeface="Barlow" panose="00000500000000000000" pitchFamily="2" charset="0"/>
                <a:cs typeface="Sora" pitchFamily="2" charset="0"/>
              </a:rPr>
              <a:t>Semestre 3 :</a:t>
            </a:r>
          </a:p>
          <a:p>
            <a:pPr lvl="0"/>
            <a:r>
              <a:rPr lang="fr-FR" sz="2000" dirty="0">
                <a:solidFill>
                  <a:srgbClr val="21154A"/>
                </a:solidFill>
                <a:latin typeface="Barlow" panose="00000500000000000000" pitchFamily="2" charset="0"/>
              </a:rPr>
              <a:t>TD : 8h</a:t>
            </a:r>
          </a:p>
          <a:p>
            <a:pPr lvl="0"/>
            <a:r>
              <a:rPr lang="fr-FR" sz="2000" dirty="0">
                <a:solidFill>
                  <a:srgbClr val="21154A"/>
                </a:solidFill>
                <a:latin typeface="Barlow" panose="00000500000000000000" pitchFamily="2" charset="0"/>
              </a:rPr>
              <a:t>TP : 6h dont évaluation</a:t>
            </a:r>
          </a:p>
          <a:p>
            <a:pPr lvl="0"/>
            <a:r>
              <a:rPr lang="fr-FR" sz="2000" dirty="0">
                <a:solidFill>
                  <a:srgbClr val="21154A"/>
                </a:solidFill>
                <a:latin typeface="Barlow" panose="00000500000000000000" pitchFamily="2" charset="0"/>
              </a:rPr>
              <a:t>Projet : 0h</a:t>
            </a:r>
          </a:p>
          <a:p>
            <a:pPr lvl="0"/>
            <a:endParaRPr lang="fr-FR" sz="2000" dirty="0">
              <a:solidFill>
                <a:srgbClr val="21154A"/>
              </a:solidFill>
              <a:latin typeface="Barlow" panose="00000500000000000000" pitchFamily="2" charset="0"/>
            </a:endParaRPr>
          </a:p>
          <a:p>
            <a:pPr lvl="0"/>
            <a:r>
              <a:rPr lang="fr-FR" sz="2000" b="1" dirty="0">
                <a:solidFill>
                  <a:schemeClr val="accent1"/>
                </a:solidFill>
                <a:latin typeface="Barlow" panose="00000500000000000000" pitchFamily="2" charset="0"/>
                <a:cs typeface="Sora" pitchFamily="2" charset="0"/>
              </a:rPr>
              <a:t>Semestre 4 :</a:t>
            </a:r>
          </a:p>
          <a:p>
            <a:pPr lvl="0"/>
            <a:r>
              <a:rPr lang="fr-FR" sz="2000" dirty="0">
                <a:solidFill>
                  <a:srgbClr val="21154A"/>
                </a:solidFill>
                <a:latin typeface="Barlow" panose="00000500000000000000" pitchFamily="2" charset="0"/>
              </a:rPr>
              <a:t>TD : 4h</a:t>
            </a:r>
          </a:p>
          <a:p>
            <a:pPr lvl="0"/>
            <a:r>
              <a:rPr lang="fr-FR" sz="2000" dirty="0">
                <a:solidFill>
                  <a:srgbClr val="21154A"/>
                </a:solidFill>
                <a:latin typeface="Barlow" panose="00000500000000000000" pitchFamily="2" charset="0"/>
              </a:rPr>
              <a:t>TP : 4h dont évaluation</a:t>
            </a:r>
          </a:p>
          <a:p>
            <a:pPr lvl="0"/>
            <a:r>
              <a:rPr lang="fr-FR" sz="2000" dirty="0">
                <a:solidFill>
                  <a:srgbClr val="21154A"/>
                </a:solidFill>
                <a:latin typeface="Barlow" panose="00000500000000000000" pitchFamily="2" charset="0"/>
              </a:rPr>
              <a:t>Projet : 5h</a:t>
            </a:r>
          </a:p>
          <a:p>
            <a:pPr lvl="0"/>
            <a:endParaRPr lang="fr-FR" sz="2000" dirty="0">
              <a:solidFill>
                <a:srgbClr val="21154A"/>
              </a:solidFill>
              <a:latin typeface="Barlow" panose="00000500000000000000" pitchFamily="2" charset="0"/>
              <a:cs typeface="Sor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991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ZoneTexte 14">
            <a:extLst>
              <a:ext uri="{FF2B5EF4-FFF2-40B4-BE49-F238E27FC236}">
                <a16:creationId xmlns:a16="http://schemas.microsoft.com/office/drawing/2014/main" id="{09527504-7173-4C87-B18C-9F204624FDE5}"/>
              </a:ext>
            </a:extLst>
          </p:cNvPr>
          <p:cNvSpPr txBox="1"/>
          <p:nvPr/>
        </p:nvSpPr>
        <p:spPr>
          <a:xfrm>
            <a:off x="6787997" y="626407"/>
            <a:ext cx="49732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1200" b="1" dirty="0">
              <a:latin typeface="Sora" pitchFamily="2" charset="0"/>
              <a:cs typeface="Sora" pitchFamily="2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14106CF-F981-47A8-B90E-738C87547AD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86400" y="1845723"/>
            <a:ext cx="6705599" cy="501227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76FBA3B-4B74-4403-92CC-203C472FC767}"/>
              </a:ext>
            </a:extLst>
          </p:cNvPr>
          <p:cNvSpPr/>
          <p:nvPr/>
        </p:nvSpPr>
        <p:spPr>
          <a:xfrm>
            <a:off x="1533546" y="0"/>
            <a:ext cx="10658453" cy="6858000"/>
          </a:xfrm>
          <a:prstGeom prst="rect">
            <a:avLst/>
          </a:prstGeom>
          <a:gradFill>
            <a:gsLst>
              <a:gs pos="13000">
                <a:schemeClr val="accent1">
                  <a:alpha val="90000"/>
                </a:schemeClr>
              </a:gs>
              <a:gs pos="100000">
                <a:schemeClr val="accent3">
                  <a:alpha val="8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EEC6E84-32B7-4BA0-9E5B-8562AB971D7A}"/>
              </a:ext>
            </a:extLst>
          </p:cNvPr>
          <p:cNvSpPr txBox="1"/>
          <p:nvPr/>
        </p:nvSpPr>
        <p:spPr>
          <a:xfrm>
            <a:off x="2383435" y="3044279"/>
            <a:ext cx="74126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dirty="0">
                <a:solidFill>
                  <a:schemeClr val="bg1"/>
                </a:solidFill>
                <a:latin typeface="Sora ExtraLight" pitchFamily="2" charset="0"/>
                <a:cs typeface="Sora ExtraLight" pitchFamily="2" charset="0"/>
              </a:rPr>
              <a:t>Les Compétences BUT 2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D6C83F3B-0948-4907-A1ED-10C25FAD7863}"/>
              </a:ext>
            </a:extLst>
          </p:cNvPr>
          <p:cNvSpPr txBox="1"/>
          <p:nvPr/>
        </p:nvSpPr>
        <p:spPr>
          <a:xfrm>
            <a:off x="11112829" y="-1"/>
            <a:ext cx="90281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fr-FR" sz="8800" dirty="0">
                <a:solidFill>
                  <a:schemeClr val="bg1"/>
                </a:solidFill>
                <a:latin typeface="Sora ExtraBold" pitchFamily="2" charset="0"/>
                <a:cs typeface="Sora ExtraBold" pitchFamily="2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5526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3EE06D1E-AD83-4841-A932-BEAF14CE6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7607" y="1414462"/>
            <a:ext cx="5048250" cy="402907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AD3CD38-2BEC-420B-9360-9D0F7A96BF28}"/>
              </a:ext>
            </a:extLst>
          </p:cNvPr>
          <p:cNvSpPr/>
          <p:nvPr/>
        </p:nvSpPr>
        <p:spPr bwMode="auto">
          <a:xfrm>
            <a:off x="1013012" y="579358"/>
            <a:ext cx="7006276" cy="57246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fr-FR" sz="1200" dirty="0">
                <a:solidFill>
                  <a:srgbClr val="21154A"/>
                </a:solidFill>
                <a:latin typeface="Sora ExtraLight" pitchFamily="2" charset="0"/>
                <a:cs typeface="Sora ExtraLight" pitchFamily="2" charset="0"/>
              </a:rPr>
              <a:t>Portfolio</a:t>
            </a:r>
          </a:p>
          <a:p>
            <a:pPr lvl="0"/>
            <a:r>
              <a:rPr lang="fr-FR" sz="4000" dirty="0">
                <a:solidFill>
                  <a:srgbClr val="21154A"/>
                </a:solidFill>
                <a:latin typeface="Sora ExtraBold" pitchFamily="2" charset="0"/>
                <a:cs typeface="Sora ExtraBold" pitchFamily="2" charset="0"/>
              </a:rPr>
              <a:t>Les </a:t>
            </a:r>
            <a:r>
              <a:rPr lang="fr-FR" sz="4000" dirty="0">
                <a:solidFill>
                  <a:srgbClr val="6F938C"/>
                </a:solidFill>
                <a:latin typeface="Sora ExtraBold" pitchFamily="2" charset="0"/>
                <a:cs typeface="Sora ExtraBold" pitchFamily="2" charset="0"/>
              </a:rPr>
              <a:t>Compétences BUT 2</a:t>
            </a:r>
          </a:p>
          <a:p>
            <a:pPr lvl="0"/>
            <a:endParaRPr lang="fr-FR" sz="1300" dirty="0">
              <a:solidFill>
                <a:srgbClr val="21154A"/>
              </a:solidFill>
              <a:latin typeface="Barlow" panose="00000500000000000000" pitchFamily="2" charset="0"/>
              <a:cs typeface="Sora" pitchFamily="2" charset="0"/>
            </a:endParaRPr>
          </a:p>
          <a:p>
            <a:r>
              <a:rPr lang="fr-FR" dirty="0"/>
              <a:t>Qu’est ce qu’une compétence ?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>
                <a:solidFill>
                  <a:schemeClr val="accent6"/>
                </a:solidFill>
              </a:rPr>
              <a:t>« </a:t>
            </a:r>
            <a:r>
              <a:rPr lang="fr-FR" b="1" dirty="0">
                <a:solidFill>
                  <a:schemeClr val="accent6"/>
                </a:solidFill>
              </a:rPr>
              <a:t>Connaissances</a:t>
            </a:r>
            <a:r>
              <a:rPr lang="fr-FR" dirty="0">
                <a:solidFill>
                  <a:schemeClr val="accent6"/>
                </a:solidFill>
              </a:rPr>
              <a:t> », « </a:t>
            </a:r>
            <a:r>
              <a:rPr lang="fr-FR" b="1" dirty="0">
                <a:solidFill>
                  <a:schemeClr val="accent6"/>
                </a:solidFill>
              </a:rPr>
              <a:t>savoir-faire</a:t>
            </a:r>
            <a:r>
              <a:rPr lang="fr-FR" dirty="0">
                <a:solidFill>
                  <a:schemeClr val="accent6"/>
                </a:solidFill>
              </a:rPr>
              <a:t> », « </a:t>
            </a:r>
            <a:r>
              <a:rPr lang="fr-FR" b="1" dirty="0">
                <a:solidFill>
                  <a:schemeClr val="accent6"/>
                </a:solidFill>
              </a:rPr>
              <a:t>savoir-être</a:t>
            </a:r>
            <a:r>
              <a:rPr lang="fr-FR" dirty="0">
                <a:solidFill>
                  <a:schemeClr val="accent6"/>
                </a:solidFill>
              </a:rPr>
              <a:t> </a:t>
            </a:r>
            <a:r>
              <a:rPr lang="fr-FR" dirty="0"/>
              <a:t>», liés à une </a:t>
            </a:r>
            <a:r>
              <a:rPr lang="fr-FR" dirty="0">
                <a:solidFill>
                  <a:schemeClr val="accent6"/>
                </a:solidFill>
              </a:rPr>
              <a:t>« </a:t>
            </a:r>
            <a:r>
              <a:rPr lang="fr-FR" b="1" dirty="0">
                <a:solidFill>
                  <a:schemeClr val="accent6"/>
                </a:solidFill>
              </a:rPr>
              <a:t>situation, un contexte</a:t>
            </a:r>
            <a:r>
              <a:rPr lang="fr-FR" dirty="0">
                <a:solidFill>
                  <a:schemeClr val="accent6"/>
                </a:solidFill>
              </a:rPr>
              <a:t> », </a:t>
            </a:r>
            <a:r>
              <a:rPr lang="fr-FR" dirty="0"/>
              <a:t>mis en œuvre pour réaliser une </a:t>
            </a:r>
            <a:r>
              <a:rPr lang="fr-FR" dirty="0">
                <a:solidFill>
                  <a:schemeClr val="accent6"/>
                </a:solidFill>
              </a:rPr>
              <a:t>« </a:t>
            </a:r>
            <a:r>
              <a:rPr lang="fr-FR" b="1" dirty="0">
                <a:solidFill>
                  <a:schemeClr val="accent6"/>
                </a:solidFill>
              </a:rPr>
              <a:t>tâche complexe</a:t>
            </a:r>
            <a:r>
              <a:rPr lang="fr-FR" dirty="0">
                <a:solidFill>
                  <a:schemeClr val="accent6"/>
                </a:solidFill>
              </a:rPr>
              <a:t> », </a:t>
            </a:r>
          </a:p>
          <a:p>
            <a:endParaRPr lang="fr-FR" dirty="0"/>
          </a:p>
          <a:p>
            <a:r>
              <a:rPr lang="fr-FR" dirty="0"/>
              <a:t>Ces éléments sont nécessaires pour évaluer le niveau d’acquisition de la compétence.</a:t>
            </a:r>
          </a:p>
          <a:p>
            <a:endParaRPr lang="fr-FR" dirty="0"/>
          </a:p>
          <a:p>
            <a:r>
              <a:rPr lang="fr-FR" b="1" dirty="0">
                <a:solidFill>
                  <a:schemeClr val="accent6"/>
                </a:solidFill>
              </a:rPr>
              <a:t>Ils le sont aussi pour construire vos documents de preuves.</a:t>
            </a:r>
          </a:p>
          <a:p>
            <a:endParaRPr lang="fr-FR" dirty="0"/>
          </a:p>
          <a:p>
            <a:r>
              <a:rPr lang="fr-FR" dirty="0"/>
              <a:t>Vous êtes en BUT 2 parcours </a:t>
            </a:r>
            <a:r>
              <a:rPr lang="fr-FR" b="1" dirty="0">
                <a:solidFill>
                  <a:schemeClr val="accent1"/>
                </a:solidFill>
              </a:rPr>
              <a:t>Cyber </a:t>
            </a:r>
          </a:p>
          <a:p>
            <a:endParaRPr lang="fr-FR" dirty="0"/>
          </a:p>
          <a:p>
            <a:r>
              <a:rPr lang="fr-FR" dirty="0"/>
              <a:t>De nouvelles compétences, de nouveaux apprentissages critiques</a:t>
            </a:r>
          </a:p>
          <a:p>
            <a:endParaRPr lang="fr-FR" dirty="0"/>
          </a:p>
          <a:p>
            <a:r>
              <a:rPr lang="fr-FR" dirty="0"/>
              <a:t>Vous avez 2 documents sur Moodle</a:t>
            </a:r>
          </a:p>
          <a:p>
            <a:pPr lvl="0"/>
            <a:endParaRPr lang="fr-FR" sz="1300" dirty="0">
              <a:solidFill>
                <a:srgbClr val="21154A"/>
              </a:solidFill>
              <a:latin typeface="Barlow" panose="00000500000000000000" pitchFamily="2" charset="0"/>
              <a:cs typeface="Sor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925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ZoneTexte 14">
            <a:extLst>
              <a:ext uri="{FF2B5EF4-FFF2-40B4-BE49-F238E27FC236}">
                <a16:creationId xmlns:a16="http://schemas.microsoft.com/office/drawing/2014/main" id="{09527504-7173-4C87-B18C-9F204624FDE5}"/>
              </a:ext>
            </a:extLst>
          </p:cNvPr>
          <p:cNvSpPr txBox="1"/>
          <p:nvPr/>
        </p:nvSpPr>
        <p:spPr>
          <a:xfrm>
            <a:off x="6787997" y="626407"/>
            <a:ext cx="49732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1200" b="1" dirty="0">
              <a:latin typeface="Sora" pitchFamily="2" charset="0"/>
              <a:cs typeface="Sora" pitchFamily="2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14106CF-F981-47A8-B90E-738C87547AD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86400" y="1845723"/>
            <a:ext cx="6705599" cy="501227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76FBA3B-4B74-4403-92CC-203C472FC767}"/>
              </a:ext>
            </a:extLst>
          </p:cNvPr>
          <p:cNvSpPr/>
          <p:nvPr/>
        </p:nvSpPr>
        <p:spPr>
          <a:xfrm>
            <a:off x="1533546" y="0"/>
            <a:ext cx="10658453" cy="6858000"/>
          </a:xfrm>
          <a:prstGeom prst="rect">
            <a:avLst/>
          </a:prstGeom>
          <a:gradFill>
            <a:gsLst>
              <a:gs pos="13000">
                <a:schemeClr val="accent1">
                  <a:alpha val="90000"/>
                </a:schemeClr>
              </a:gs>
              <a:gs pos="100000">
                <a:schemeClr val="accent3">
                  <a:alpha val="8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EEC6E84-32B7-4BA0-9E5B-8562AB971D7A}"/>
              </a:ext>
            </a:extLst>
          </p:cNvPr>
          <p:cNvSpPr txBox="1"/>
          <p:nvPr/>
        </p:nvSpPr>
        <p:spPr>
          <a:xfrm>
            <a:off x="2383435" y="3044279"/>
            <a:ext cx="74126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dirty="0">
                <a:solidFill>
                  <a:schemeClr val="bg1"/>
                </a:solidFill>
                <a:latin typeface="Sora ExtraLight" pitchFamily="2" charset="0"/>
                <a:cs typeface="Sora ExtraLight" pitchFamily="2" charset="0"/>
              </a:rPr>
              <a:t>Le Portfolio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D6C83F3B-0948-4907-A1ED-10C25FAD7863}"/>
              </a:ext>
            </a:extLst>
          </p:cNvPr>
          <p:cNvSpPr txBox="1"/>
          <p:nvPr/>
        </p:nvSpPr>
        <p:spPr>
          <a:xfrm>
            <a:off x="11112829" y="-1"/>
            <a:ext cx="90281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fr-FR" sz="8800" dirty="0">
                <a:solidFill>
                  <a:schemeClr val="bg1"/>
                </a:solidFill>
                <a:latin typeface="Sora ExtraBold" pitchFamily="2" charset="0"/>
                <a:cs typeface="Sora ExtraBold" pitchFamily="2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46116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D3CD38-2BEC-420B-9360-9D0F7A96BF28}"/>
              </a:ext>
            </a:extLst>
          </p:cNvPr>
          <p:cNvSpPr/>
          <p:nvPr/>
        </p:nvSpPr>
        <p:spPr bwMode="auto">
          <a:xfrm>
            <a:off x="1427306" y="981894"/>
            <a:ext cx="4853574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fr-FR" sz="1200" dirty="0">
                <a:solidFill>
                  <a:srgbClr val="21154A"/>
                </a:solidFill>
                <a:latin typeface="Sora ExtraLight" pitchFamily="2" charset="0"/>
                <a:cs typeface="Sora ExtraLight" pitchFamily="2" charset="0"/>
              </a:rPr>
              <a:t>Portfolio</a:t>
            </a:r>
          </a:p>
          <a:p>
            <a:pPr lvl="0"/>
            <a:r>
              <a:rPr lang="fr-FR" sz="4000" dirty="0">
                <a:solidFill>
                  <a:srgbClr val="21154A"/>
                </a:solidFill>
                <a:latin typeface="Sora ExtraBold" pitchFamily="2" charset="0"/>
                <a:cs typeface="Sora ExtraBold" pitchFamily="2" charset="0"/>
              </a:rPr>
              <a:t>Le </a:t>
            </a:r>
            <a:r>
              <a:rPr lang="fr-FR" sz="4000" dirty="0">
                <a:solidFill>
                  <a:srgbClr val="6F938C"/>
                </a:solidFill>
                <a:latin typeface="Sora ExtraBold" pitchFamily="2" charset="0"/>
                <a:cs typeface="Sora ExtraBold" pitchFamily="2" charset="0"/>
              </a:rPr>
              <a:t>PORTFOLIO</a:t>
            </a:r>
          </a:p>
          <a:p>
            <a:pPr lvl="0"/>
            <a:endParaRPr lang="fr-FR" sz="1300" dirty="0">
              <a:solidFill>
                <a:srgbClr val="21154A"/>
              </a:solidFill>
              <a:latin typeface="Barlow" panose="00000500000000000000" pitchFamily="2" charset="0"/>
              <a:cs typeface="Sora" pitchFamily="2" charset="0"/>
            </a:endParaRPr>
          </a:p>
          <a:p>
            <a:pPr lvl="0"/>
            <a:r>
              <a:rPr lang="fr-FR" sz="2000" dirty="0">
                <a:solidFill>
                  <a:srgbClr val="21154A"/>
                </a:solidFill>
                <a:latin typeface="Barlow" panose="00000500000000000000" pitchFamily="2" charset="0"/>
                <a:cs typeface="Sora" pitchFamily="2" charset="0"/>
              </a:rPr>
              <a:t>Vous utiliserez un drive avec :</a:t>
            </a:r>
          </a:p>
          <a:p>
            <a:pPr lvl="0"/>
            <a:endParaRPr lang="fr-FR" sz="2000" dirty="0">
              <a:solidFill>
                <a:srgbClr val="21154A"/>
              </a:solidFill>
              <a:latin typeface="Barlow" panose="00000500000000000000" pitchFamily="2" charset="0"/>
              <a:cs typeface="Sora" pitchFamily="2" charset="0"/>
            </a:endParaRPr>
          </a:p>
          <a:p>
            <a:pPr lvl="0"/>
            <a:r>
              <a:rPr lang="fr-FR" sz="2000" dirty="0">
                <a:solidFill>
                  <a:srgbClr val="21154A"/>
                </a:solidFill>
                <a:latin typeface="Barlow" panose="00000500000000000000" pitchFamily="2" charset="0"/>
                <a:cs typeface="Sora" pitchFamily="2" charset="0"/>
              </a:rPr>
              <a:t>Un tableau</a:t>
            </a:r>
          </a:p>
          <a:p>
            <a:pPr lvl="0"/>
            <a:endParaRPr lang="fr-FR" sz="2000" dirty="0">
              <a:solidFill>
                <a:srgbClr val="21154A"/>
              </a:solidFill>
              <a:latin typeface="Barlow" panose="00000500000000000000" pitchFamily="2" charset="0"/>
              <a:cs typeface="Sora" pitchFamily="2" charset="0"/>
            </a:endParaRPr>
          </a:p>
          <a:p>
            <a:pPr lvl="0"/>
            <a:endParaRPr lang="fr-FR" sz="2000" dirty="0">
              <a:solidFill>
                <a:srgbClr val="21154A"/>
              </a:solidFill>
              <a:latin typeface="Barlow" panose="00000500000000000000" pitchFamily="2" charset="0"/>
              <a:cs typeface="Sora" pitchFamily="2" charset="0"/>
            </a:endParaRPr>
          </a:p>
          <a:p>
            <a:pPr lvl="0"/>
            <a:endParaRPr lang="fr-FR" sz="2000" dirty="0">
              <a:solidFill>
                <a:srgbClr val="21154A"/>
              </a:solidFill>
              <a:latin typeface="Barlow" panose="00000500000000000000" pitchFamily="2" charset="0"/>
              <a:cs typeface="Sora" pitchFamily="2" charset="0"/>
            </a:endParaRPr>
          </a:p>
          <a:p>
            <a:pPr lvl="0"/>
            <a:endParaRPr lang="fr-FR" sz="2000" dirty="0">
              <a:solidFill>
                <a:srgbClr val="21154A"/>
              </a:solidFill>
              <a:latin typeface="Barlow" panose="00000500000000000000" pitchFamily="2" charset="0"/>
              <a:cs typeface="Sora" pitchFamily="2" charset="0"/>
            </a:endParaRPr>
          </a:p>
          <a:p>
            <a:pPr lvl="0"/>
            <a:endParaRPr lang="fr-FR" sz="2000" dirty="0">
              <a:solidFill>
                <a:srgbClr val="21154A"/>
              </a:solidFill>
              <a:latin typeface="Barlow" panose="00000500000000000000" pitchFamily="2" charset="0"/>
              <a:cs typeface="Sora" pitchFamily="2" charset="0"/>
            </a:endParaRPr>
          </a:p>
          <a:p>
            <a:pPr lvl="0"/>
            <a:r>
              <a:rPr lang="fr-FR" sz="2000" dirty="0">
                <a:solidFill>
                  <a:srgbClr val="21154A"/>
                </a:solidFill>
                <a:latin typeface="Barlow" panose="00000500000000000000" pitchFamily="2" charset="0"/>
                <a:cs typeface="Sora" pitchFamily="2" charset="0"/>
              </a:rPr>
              <a:t>Des documents texte pour créer vos Preuves</a:t>
            </a:r>
          </a:p>
          <a:p>
            <a:pPr lvl="0"/>
            <a:endParaRPr lang="fr-FR" sz="1300" dirty="0">
              <a:solidFill>
                <a:srgbClr val="21154A"/>
              </a:solidFill>
              <a:latin typeface="Barlow" panose="00000500000000000000" pitchFamily="2" charset="0"/>
              <a:cs typeface="Sora" pitchFamily="2" charset="0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C43AE045-6ECF-48B8-8E2C-7ABFE4438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7" y="3195637"/>
            <a:ext cx="11325225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316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D3CD38-2BEC-420B-9360-9D0F7A96BF28}"/>
              </a:ext>
            </a:extLst>
          </p:cNvPr>
          <p:cNvSpPr/>
          <p:nvPr/>
        </p:nvSpPr>
        <p:spPr bwMode="auto">
          <a:xfrm>
            <a:off x="1427304" y="721917"/>
            <a:ext cx="7976671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fr-FR" sz="1200" dirty="0">
                <a:solidFill>
                  <a:srgbClr val="21154A"/>
                </a:solidFill>
                <a:latin typeface="Sora ExtraLight" pitchFamily="2" charset="0"/>
                <a:cs typeface="Sora ExtraLight" pitchFamily="2" charset="0"/>
              </a:rPr>
              <a:t>Portfolio</a:t>
            </a:r>
          </a:p>
          <a:p>
            <a:pPr lvl="0"/>
            <a:r>
              <a:rPr lang="fr-FR" sz="4000" dirty="0">
                <a:solidFill>
                  <a:srgbClr val="21154A"/>
                </a:solidFill>
                <a:latin typeface="Sora ExtraBold" pitchFamily="2" charset="0"/>
                <a:cs typeface="Sora ExtraBold" pitchFamily="2" charset="0"/>
              </a:rPr>
              <a:t>Le </a:t>
            </a:r>
            <a:r>
              <a:rPr lang="fr-FR" sz="4000" dirty="0">
                <a:solidFill>
                  <a:srgbClr val="6F938C"/>
                </a:solidFill>
                <a:latin typeface="Sora ExtraBold" pitchFamily="2" charset="0"/>
                <a:cs typeface="Sora ExtraBold" pitchFamily="2" charset="0"/>
              </a:rPr>
              <a:t>PORTFOLIO</a:t>
            </a:r>
          </a:p>
          <a:p>
            <a:pPr lvl="0"/>
            <a:endParaRPr lang="fr-FR" sz="1300" dirty="0">
              <a:solidFill>
                <a:srgbClr val="21154A"/>
              </a:solidFill>
              <a:latin typeface="Barlow" panose="00000500000000000000" pitchFamily="2" charset="0"/>
              <a:cs typeface="Sora" pitchFamily="2" charset="0"/>
            </a:endParaRPr>
          </a:p>
          <a:p>
            <a:pPr lvl="0"/>
            <a:r>
              <a:rPr lang="fr-FR" sz="2000" dirty="0">
                <a:solidFill>
                  <a:srgbClr val="21154A"/>
                </a:solidFill>
                <a:latin typeface="Barlow" panose="00000500000000000000" pitchFamily="2" charset="0"/>
                <a:cs typeface="Sora" pitchFamily="2" charset="0"/>
              </a:rPr>
              <a:t>Vous Complèterez votre portfolio en vous basant sur les travaux, taches réalisées lors des </a:t>
            </a:r>
            <a:r>
              <a:rPr lang="fr-FR" sz="2000" dirty="0" err="1">
                <a:solidFill>
                  <a:srgbClr val="21154A"/>
                </a:solidFill>
                <a:latin typeface="Barlow" panose="00000500000000000000" pitchFamily="2" charset="0"/>
                <a:cs typeface="Sora" pitchFamily="2" charset="0"/>
              </a:rPr>
              <a:t>SAés</a:t>
            </a:r>
            <a:r>
              <a:rPr lang="fr-FR" sz="2000" dirty="0">
                <a:solidFill>
                  <a:srgbClr val="21154A"/>
                </a:solidFill>
                <a:latin typeface="Barlow" panose="00000500000000000000" pitchFamily="2" charset="0"/>
                <a:cs typeface="Sora" pitchFamily="2" charset="0"/>
              </a:rPr>
              <a:t>.</a:t>
            </a:r>
          </a:p>
          <a:p>
            <a:pPr lvl="0" algn="ctr"/>
            <a:r>
              <a:rPr lang="fr-FR" sz="2800" b="1" dirty="0" err="1">
                <a:solidFill>
                  <a:schemeClr val="accent6"/>
                </a:solidFill>
                <a:latin typeface="Barlow" panose="00000500000000000000" pitchFamily="2" charset="0"/>
                <a:cs typeface="Sora" pitchFamily="2" charset="0"/>
              </a:rPr>
              <a:t>Saé</a:t>
            </a:r>
            <a:r>
              <a:rPr lang="fr-FR" sz="2800" b="1" dirty="0">
                <a:solidFill>
                  <a:schemeClr val="accent6"/>
                </a:solidFill>
                <a:latin typeface="Barlow" panose="00000500000000000000" pitchFamily="2" charset="0"/>
                <a:cs typeface="Sora" pitchFamily="2" charset="0"/>
              </a:rPr>
              <a:t> = Autonomie</a:t>
            </a:r>
          </a:p>
          <a:p>
            <a:pPr lvl="0" algn="ctr"/>
            <a:r>
              <a:rPr lang="fr-FR" sz="2000" dirty="0">
                <a:solidFill>
                  <a:srgbClr val="21154A"/>
                </a:solidFill>
                <a:latin typeface="Barlow" panose="00000500000000000000" pitchFamily="2" charset="0"/>
              </a:rPr>
              <a:t>Notion importante pour justifier l’acquisition de compétences</a:t>
            </a:r>
          </a:p>
          <a:p>
            <a:pPr lvl="0"/>
            <a:endParaRPr lang="fr-FR" sz="2000" dirty="0">
              <a:solidFill>
                <a:srgbClr val="21154A"/>
              </a:solidFill>
              <a:latin typeface="Barlow" panose="00000500000000000000" pitchFamily="2" charset="0"/>
              <a:cs typeface="Sora" pitchFamily="2" charset="0"/>
            </a:endParaRPr>
          </a:p>
          <a:p>
            <a:pPr lvl="0"/>
            <a:r>
              <a:rPr lang="fr-FR" sz="2000" b="1" dirty="0">
                <a:solidFill>
                  <a:schemeClr val="accent1"/>
                </a:solidFill>
                <a:latin typeface="Barlow" panose="00000500000000000000" pitchFamily="2" charset="0"/>
                <a:cs typeface="Sora" pitchFamily="2" charset="0"/>
              </a:rPr>
              <a:t>Au semestre 3 :</a:t>
            </a:r>
          </a:p>
          <a:p>
            <a:pPr lvl="0"/>
            <a:endParaRPr lang="fr-FR" sz="2000" dirty="0">
              <a:solidFill>
                <a:srgbClr val="21154A"/>
              </a:solidFill>
              <a:latin typeface="Barlow" panose="00000500000000000000" pitchFamily="2" charset="0"/>
              <a:cs typeface="Sora" pitchFamily="2" charset="0"/>
            </a:endParaRPr>
          </a:p>
          <a:p>
            <a:r>
              <a:rPr lang="fr-FR" b="1" dirty="0"/>
              <a:t>SAÉ3.01 </a:t>
            </a:r>
            <a:r>
              <a:rPr lang="fr-FR" dirty="0"/>
              <a:t>Mettre en œuvre un système de transmission</a:t>
            </a:r>
          </a:p>
          <a:p>
            <a:r>
              <a:rPr lang="fr-FR" b="1" dirty="0"/>
              <a:t>SAÉ3.02 </a:t>
            </a:r>
            <a:r>
              <a:rPr lang="fr-FR" dirty="0"/>
              <a:t>Développer des applications communicantes</a:t>
            </a:r>
          </a:p>
          <a:p>
            <a:r>
              <a:rPr lang="fr-FR" b="1" dirty="0"/>
              <a:t>SAÉ3.Cyber.03 </a:t>
            </a:r>
            <a:r>
              <a:rPr lang="fr-FR" dirty="0"/>
              <a:t>Concevoir un réseau informatique sécurisé </a:t>
            </a:r>
            <a:r>
              <a:rPr lang="fr-FR" dirty="0" err="1"/>
              <a:t>multi-sites</a:t>
            </a:r>
            <a:endParaRPr lang="fr-FR" dirty="0"/>
          </a:p>
          <a:p>
            <a:r>
              <a:rPr lang="fr-FR" b="1" dirty="0"/>
              <a:t>SAÉ3.Cyber.04 </a:t>
            </a:r>
            <a:r>
              <a:rPr lang="fr-FR" dirty="0"/>
              <a:t>Découvrir le </a:t>
            </a:r>
            <a:r>
              <a:rPr lang="fr-FR" dirty="0" err="1"/>
              <a:t>pentesting</a:t>
            </a:r>
            <a:endParaRPr lang="fr-FR" dirty="0"/>
          </a:p>
          <a:p>
            <a:endParaRPr lang="fr-FR" sz="2000" dirty="0">
              <a:solidFill>
                <a:srgbClr val="21154A"/>
              </a:solidFill>
              <a:latin typeface="Barlow" panose="00000500000000000000" pitchFamily="2" charset="0"/>
              <a:cs typeface="Sora" pitchFamily="2" charset="0"/>
            </a:endParaRPr>
          </a:p>
          <a:p>
            <a:pPr lvl="0"/>
            <a:r>
              <a:rPr lang="fr-FR" sz="2000" b="1" dirty="0">
                <a:solidFill>
                  <a:schemeClr val="accent1"/>
                </a:solidFill>
                <a:latin typeface="Barlow" panose="00000500000000000000" pitchFamily="2" charset="0"/>
                <a:cs typeface="Sora" pitchFamily="2" charset="0"/>
              </a:rPr>
              <a:t>Au semestre 4 :</a:t>
            </a:r>
          </a:p>
          <a:p>
            <a:pPr lvl="0"/>
            <a:endParaRPr lang="fr-FR" sz="2000" dirty="0">
              <a:solidFill>
                <a:srgbClr val="21154A"/>
              </a:solidFill>
              <a:latin typeface="Barlow" panose="00000500000000000000" pitchFamily="2" charset="0"/>
              <a:cs typeface="Sora" pitchFamily="2" charset="0"/>
            </a:endParaRPr>
          </a:p>
          <a:p>
            <a:pPr lvl="0"/>
            <a:r>
              <a:rPr lang="fr-FR" b="1" dirty="0"/>
              <a:t>SAE4.STAGE </a:t>
            </a:r>
            <a:r>
              <a:rPr lang="fr-FR" sz="2000" dirty="0">
                <a:solidFill>
                  <a:srgbClr val="21154A"/>
                </a:solidFill>
                <a:latin typeface="Barlow" panose="00000500000000000000" pitchFamily="2" charset="0"/>
                <a:cs typeface="Sora" pitchFamily="2" charset="0"/>
              </a:rPr>
              <a:t>=&gt; en entreprise (Alternance pour vous)</a:t>
            </a:r>
          </a:p>
          <a:p>
            <a:pPr lvl="0"/>
            <a:endParaRPr lang="fr-FR" sz="1300" dirty="0">
              <a:solidFill>
                <a:srgbClr val="21154A"/>
              </a:solidFill>
              <a:latin typeface="Barlow" panose="00000500000000000000" pitchFamily="2" charset="0"/>
              <a:cs typeface="Sor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17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ZoneTexte 14">
            <a:extLst>
              <a:ext uri="{FF2B5EF4-FFF2-40B4-BE49-F238E27FC236}">
                <a16:creationId xmlns:a16="http://schemas.microsoft.com/office/drawing/2014/main" id="{09527504-7173-4C87-B18C-9F204624FDE5}"/>
              </a:ext>
            </a:extLst>
          </p:cNvPr>
          <p:cNvSpPr txBox="1"/>
          <p:nvPr/>
        </p:nvSpPr>
        <p:spPr>
          <a:xfrm>
            <a:off x="6787997" y="626407"/>
            <a:ext cx="49732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1200" b="1" dirty="0">
              <a:latin typeface="Sora" pitchFamily="2" charset="0"/>
              <a:cs typeface="Sora" pitchFamily="2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14106CF-F981-47A8-B90E-738C87547AD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86400" y="1845723"/>
            <a:ext cx="6705599" cy="501227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76FBA3B-4B74-4403-92CC-203C472FC767}"/>
              </a:ext>
            </a:extLst>
          </p:cNvPr>
          <p:cNvSpPr/>
          <p:nvPr/>
        </p:nvSpPr>
        <p:spPr>
          <a:xfrm>
            <a:off x="1533546" y="0"/>
            <a:ext cx="10658453" cy="6858000"/>
          </a:xfrm>
          <a:prstGeom prst="rect">
            <a:avLst/>
          </a:prstGeom>
          <a:gradFill>
            <a:gsLst>
              <a:gs pos="13000">
                <a:schemeClr val="accent1">
                  <a:alpha val="90000"/>
                </a:schemeClr>
              </a:gs>
              <a:gs pos="100000">
                <a:schemeClr val="accent3">
                  <a:alpha val="8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EEC6E84-32B7-4BA0-9E5B-8562AB971D7A}"/>
              </a:ext>
            </a:extLst>
          </p:cNvPr>
          <p:cNvSpPr txBox="1"/>
          <p:nvPr/>
        </p:nvSpPr>
        <p:spPr>
          <a:xfrm>
            <a:off x="2383435" y="3044279"/>
            <a:ext cx="74126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dirty="0">
                <a:solidFill>
                  <a:schemeClr val="bg1"/>
                </a:solidFill>
                <a:latin typeface="Sora ExtraLight" pitchFamily="2" charset="0"/>
                <a:cs typeface="Sora ExtraLight" pitchFamily="2" charset="0"/>
              </a:rPr>
              <a:t>Le E-Portfolio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D6C83F3B-0948-4907-A1ED-10C25FAD7863}"/>
              </a:ext>
            </a:extLst>
          </p:cNvPr>
          <p:cNvSpPr txBox="1"/>
          <p:nvPr/>
        </p:nvSpPr>
        <p:spPr>
          <a:xfrm>
            <a:off x="11112829" y="-1"/>
            <a:ext cx="90281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fr-FR" sz="8800" dirty="0">
                <a:solidFill>
                  <a:schemeClr val="bg1"/>
                </a:solidFill>
                <a:latin typeface="Sora ExtraBold" pitchFamily="2" charset="0"/>
                <a:cs typeface="Sora ExtraBold" pitchFamily="2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21468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D3CD38-2BEC-420B-9360-9D0F7A96BF28}"/>
              </a:ext>
            </a:extLst>
          </p:cNvPr>
          <p:cNvSpPr/>
          <p:nvPr/>
        </p:nvSpPr>
        <p:spPr bwMode="auto">
          <a:xfrm>
            <a:off x="1427306" y="981894"/>
            <a:ext cx="5968576" cy="55245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fr-FR" sz="1200" dirty="0">
                <a:solidFill>
                  <a:srgbClr val="21154A"/>
                </a:solidFill>
                <a:latin typeface="Sora ExtraLight" pitchFamily="2" charset="0"/>
                <a:cs typeface="Sora ExtraLight" pitchFamily="2" charset="0"/>
              </a:rPr>
              <a:t>Portfolio</a:t>
            </a:r>
          </a:p>
          <a:p>
            <a:pPr lvl="0"/>
            <a:r>
              <a:rPr lang="fr-FR" sz="4000" dirty="0">
                <a:solidFill>
                  <a:srgbClr val="21154A"/>
                </a:solidFill>
                <a:latin typeface="Sora ExtraBold" pitchFamily="2" charset="0"/>
                <a:cs typeface="Sora ExtraBold" pitchFamily="2" charset="0"/>
              </a:rPr>
              <a:t>Le </a:t>
            </a:r>
            <a:r>
              <a:rPr lang="fr-FR" sz="4000" dirty="0">
                <a:solidFill>
                  <a:srgbClr val="6F938C"/>
                </a:solidFill>
                <a:latin typeface="Sora ExtraBold" pitchFamily="2" charset="0"/>
                <a:cs typeface="Sora ExtraBold" pitchFamily="2" charset="0"/>
              </a:rPr>
              <a:t>E-PORTFOLIO</a:t>
            </a:r>
          </a:p>
          <a:p>
            <a:pPr lvl="0"/>
            <a:endParaRPr lang="fr-FR" sz="1300" dirty="0">
              <a:solidFill>
                <a:srgbClr val="21154A"/>
              </a:solidFill>
              <a:latin typeface="Barlow" panose="00000500000000000000" pitchFamily="2" charset="0"/>
              <a:cs typeface="Sora" pitchFamily="2" charset="0"/>
            </a:endParaRPr>
          </a:p>
          <a:p>
            <a:pPr lvl="0"/>
            <a:r>
              <a:rPr lang="fr-FR" sz="2000" b="1" dirty="0">
                <a:solidFill>
                  <a:schemeClr val="accent6"/>
                </a:solidFill>
                <a:latin typeface="Barlow" panose="00000500000000000000" pitchFamily="2" charset="0"/>
                <a:cs typeface="Sora" pitchFamily="2" charset="0"/>
              </a:rPr>
              <a:t>Il est obligatoire</a:t>
            </a:r>
          </a:p>
          <a:p>
            <a:pPr lvl="0"/>
            <a:endParaRPr lang="fr-FR" sz="2000" dirty="0">
              <a:solidFill>
                <a:srgbClr val="21154A"/>
              </a:solidFill>
              <a:latin typeface="Barlow" panose="00000500000000000000" pitchFamily="2" charset="0"/>
              <a:cs typeface="Sora" pitchFamily="2" charset="0"/>
            </a:endParaRPr>
          </a:p>
          <a:p>
            <a:pPr lvl="0"/>
            <a:r>
              <a:rPr lang="fr-FR" sz="2000" dirty="0">
                <a:solidFill>
                  <a:srgbClr val="21154A"/>
                </a:solidFill>
                <a:latin typeface="Barlow" panose="00000500000000000000" pitchFamily="2" charset="0"/>
                <a:cs typeface="Sora" pitchFamily="2" charset="0"/>
              </a:rPr>
              <a:t>Il vous servira de support pour les soutenances</a:t>
            </a:r>
          </a:p>
          <a:p>
            <a:pPr lvl="0"/>
            <a:endParaRPr lang="fr-FR" sz="2000" dirty="0">
              <a:solidFill>
                <a:srgbClr val="21154A"/>
              </a:solidFill>
              <a:latin typeface="Barlow" panose="00000500000000000000" pitchFamily="2" charset="0"/>
              <a:cs typeface="Sora" pitchFamily="2" charset="0"/>
            </a:endParaRPr>
          </a:p>
          <a:p>
            <a:pPr lvl="0"/>
            <a:r>
              <a:rPr lang="fr-FR" sz="2000" dirty="0">
                <a:solidFill>
                  <a:srgbClr val="21154A"/>
                </a:solidFill>
                <a:latin typeface="Barlow" panose="00000500000000000000" pitchFamily="2" charset="0"/>
                <a:cs typeface="Sora" pitchFamily="2" charset="0"/>
              </a:rPr>
              <a:t>Vous pouvez utiliser pour votre E-portfolio :</a:t>
            </a:r>
          </a:p>
          <a:p>
            <a:pPr lvl="0"/>
            <a:endParaRPr lang="fr-FR" sz="2000" dirty="0">
              <a:solidFill>
                <a:srgbClr val="21154A"/>
              </a:solidFill>
              <a:latin typeface="Barlow" panose="00000500000000000000" pitchFamily="2" charset="0"/>
              <a:cs typeface="Sora" pitchFamily="2" charset="0"/>
            </a:endParaRPr>
          </a:p>
          <a:p>
            <a:pPr lvl="1"/>
            <a:r>
              <a:rPr lang="fr-FR" sz="2000" dirty="0">
                <a:solidFill>
                  <a:srgbClr val="21154A"/>
                </a:solidFill>
                <a:latin typeface="Barlow" panose="00000500000000000000" pitchFamily="2" charset="0"/>
                <a:cs typeface="Sora" pitchFamily="2" charset="0"/>
              </a:rPr>
              <a:t>&gt; Le Framework Symfony avec ou sans </a:t>
            </a:r>
            <a:r>
              <a:rPr lang="fr-FR" sz="2000" dirty="0" err="1">
                <a:solidFill>
                  <a:srgbClr val="21154A"/>
                </a:solidFill>
                <a:latin typeface="Barlow" panose="00000500000000000000" pitchFamily="2" charset="0"/>
                <a:cs typeface="Sora" pitchFamily="2" charset="0"/>
              </a:rPr>
              <a:t>BdD</a:t>
            </a:r>
            <a:endParaRPr lang="fr-FR" sz="2000" dirty="0">
              <a:solidFill>
                <a:srgbClr val="21154A"/>
              </a:solidFill>
              <a:latin typeface="Barlow" panose="00000500000000000000" pitchFamily="2" charset="0"/>
              <a:cs typeface="Sora" pitchFamily="2" charset="0"/>
            </a:endParaRPr>
          </a:p>
          <a:p>
            <a:pPr lvl="1"/>
            <a:endParaRPr lang="fr-FR" sz="2000" dirty="0">
              <a:solidFill>
                <a:srgbClr val="21154A"/>
              </a:solidFill>
              <a:latin typeface="Barlow" panose="00000500000000000000" pitchFamily="2" charset="0"/>
              <a:cs typeface="Sora" pitchFamily="2" charset="0"/>
            </a:endParaRPr>
          </a:p>
          <a:p>
            <a:pPr lvl="1"/>
            <a:r>
              <a:rPr lang="fr-FR" sz="2000" dirty="0">
                <a:solidFill>
                  <a:srgbClr val="21154A"/>
                </a:solidFill>
                <a:latin typeface="Barlow" panose="00000500000000000000" pitchFamily="2" charset="0"/>
                <a:cs typeface="Sora" pitchFamily="2" charset="0"/>
              </a:rPr>
              <a:t>&gt; Un blog en HTML / CSS</a:t>
            </a:r>
          </a:p>
          <a:p>
            <a:pPr lvl="1"/>
            <a:endParaRPr lang="fr-FR" sz="2000" dirty="0">
              <a:solidFill>
                <a:srgbClr val="21154A"/>
              </a:solidFill>
              <a:latin typeface="Barlow" panose="00000500000000000000" pitchFamily="2" charset="0"/>
              <a:cs typeface="Sora" pitchFamily="2" charset="0"/>
            </a:endParaRPr>
          </a:p>
          <a:p>
            <a:pPr lvl="1"/>
            <a:r>
              <a:rPr lang="fr-FR" sz="2000" dirty="0">
                <a:solidFill>
                  <a:srgbClr val="21154A"/>
                </a:solidFill>
                <a:latin typeface="Barlow" panose="00000500000000000000" pitchFamily="2" charset="0"/>
                <a:cs typeface="Sora" pitchFamily="2" charset="0"/>
              </a:rPr>
              <a:t>&gt; Un autre Framework que Symfony</a:t>
            </a:r>
          </a:p>
          <a:p>
            <a:pPr lvl="0"/>
            <a:endParaRPr lang="fr-FR" sz="3200" dirty="0">
              <a:solidFill>
                <a:srgbClr val="21154A"/>
              </a:solidFill>
              <a:latin typeface="Barlow" panose="00000500000000000000" pitchFamily="2" charset="0"/>
              <a:cs typeface="Sora" pitchFamily="2" charset="0"/>
            </a:endParaRPr>
          </a:p>
          <a:p>
            <a:pPr lvl="0"/>
            <a:r>
              <a:rPr lang="fr-FR" b="1" dirty="0">
                <a:solidFill>
                  <a:schemeClr val="accent6"/>
                </a:solidFill>
                <a:latin typeface="Barlow" panose="00000500000000000000" pitchFamily="2" charset="0"/>
                <a:cs typeface="Sora" pitchFamily="2" charset="0"/>
              </a:rPr>
              <a:t>Je ne vous demande pas d’acheter un nom de domaine. Votre E-Portfolio peut être en local.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EAAA753-3715-46EB-A6E5-9FD4F0A794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2624" y="235849"/>
            <a:ext cx="3289282" cy="2188867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AF706044-C3D2-4DC9-B5E2-52FF1FEB86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2624" y="2697479"/>
            <a:ext cx="3289282" cy="197356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C0B1AC5-D82B-476D-9F98-FF8AA1B7F1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2624" y="5008650"/>
            <a:ext cx="3289282" cy="172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543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ZoneTexte 14">
            <a:extLst>
              <a:ext uri="{FF2B5EF4-FFF2-40B4-BE49-F238E27FC236}">
                <a16:creationId xmlns:a16="http://schemas.microsoft.com/office/drawing/2014/main" id="{09527504-7173-4C87-B18C-9F204624FDE5}"/>
              </a:ext>
            </a:extLst>
          </p:cNvPr>
          <p:cNvSpPr txBox="1"/>
          <p:nvPr/>
        </p:nvSpPr>
        <p:spPr>
          <a:xfrm>
            <a:off x="6787997" y="626407"/>
            <a:ext cx="49732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1200" b="1" dirty="0">
              <a:latin typeface="Sora" pitchFamily="2" charset="0"/>
              <a:cs typeface="Sora" pitchFamily="2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14106CF-F981-47A8-B90E-738C87547AD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86400" y="1845723"/>
            <a:ext cx="6705599" cy="501227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76FBA3B-4B74-4403-92CC-203C472FC767}"/>
              </a:ext>
            </a:extLst>
          </p:cNvPr>
          <p:cNvSpPr/>
          <p:nvPr/>
        </p:nvSpPr>
        <p:spPr>
          <a:xfrm>
            <a:off x="1533546" y="0"/>
            <a:ext cx="10658453" cy="6858000"/>
          </a:xfrm>
          <a:prstGeom prst="rect">
            <a:avLst/>
          </a:prstGeom>
          <a:gradFill>
            <a:gsLst>
              <a:gs pos="13000">
                <a:schemeClr val="accent1">
                  <a:alpha val="90000"/>
                </a:schemeClr>
              </a:gs>
              <a:gs pos="100000">
                <a:schemeClr val="accent3">
                  <a:alpha val="8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EEC6E84-32B7-4BA0-9E5B-8562AB971D7A}"/>
              </a:ext>
            </a:extLst>
          </p:cNvPr>
          <p:cNvSpPr txBox="1"/>
          <p:nvPr/>
        </p:nvSpPr>
        <p:spPr>
          <a:xfrm>
            <a:off x="2383435" y="3044279"/>
            <a:ext cx="74126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dirty="0">
                <a:solidFill>
                  <a:schemeClr val="bg1"/>
                </a:solidFill>
                <a:latin typeface="Sora ExtraLight" pitchFamily="2" charset="0"/>
                <a:cs typeface="Sora ExtraLight" pitchFamily="2" charset="0"/>
              </a:rPr>
              <a:t>Les Preuves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D6C83F3B-0948-4907-A1ED-10C25FAD7863}"/>
              </a:ext>
            </a:extLst>
          </p:cNvPr>
          <p:cNvSpPr txBox="1"/>
          <p:nvPr/>
        </p:nvSpPr>
        <p:spPr>
          <a:xfrm>
            <a:off x="11112829" y="-1"/>
            <a:ext cx="90281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fr-FR" sz="8800" dirty="0">
                <a:solidFill>
                  <a:schemeClr val="bg1"/>
                </a:solidFill>
                <a:latin typeface="Sora ExtraBold" pitchFamily="2" charset="0"/>
                <a:cs typeface="Sora ExtraBold" pitchFamily="2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6102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D3CD38-2BEC-420B-9360-9D0F7A96BF28}"/>
              </a:ext>
            </a:extLst>
          </p:cNvPr>
          <p:cNvSpPr/>
          <p:nvPr/>
        </p:nvSpPr>
        <p:spPr bwMode="auto">
          <a:xfrm>
            <a:off x="1445235" y="408153"/>
            <a:ext cx="7636013" cy="68788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fr-FR" sz="1200" dirty="0">
                <a:solidFill>
                  <a:srgbClr val="21154A"/>
                </a:solidFill>
                <a:latin typeface="Sora ExtraLight" pitchFamily="2" charset="0"/>
                <a:cs typeface="Sora ExtraLight" pitchFamily="2" charset="0"/>
              </a:rPr>
              <a:t>Portfolio</a:t>
            </a:r>
          </a:p>
          <a:p>
            <a:pPr lvl="0"/>
            <a:r>
              <a:rPr lang="fr-FR" sz="4000" dirty="0">
                <a:solidFill>
                  <a:srgbClr val="21154A"/>
                </a:solidFill>
                <a:latin typeface="Sora ExtraBold" pitchFamily="2" charset="0"/>
                <a:cs typeface="Sora ExtraBold" pitchFamily="2" charset="0"/>
              </a:rPr>
              <a:t>Les </a:t>
            </a:r>
            <a:r>
              <a:rPr lang="fr-FR" sz="4000" dirty="0">
                <a:solidFill>
                  <a:srgbClr val="6F938C"/>
                </a:solidFill>
                <a:latin typeface="Sora ExtraBold" pitchFamily="2" charset="0"/>
                <a:cs typeface="Sora ExtraBold" pitchFamily="2" charset="0"/>
              </a:rPr>
              <a:t>Preuves</a:t>
            </a:r>
          </a:p>
          <a:p>
            <a:pPr lvl="0"/>
            <a:endParaRPr lang="fr-FR" sz="1300" dirty="0">
              <a:solidFill>
                <a:srgbClr val="21154A"/>
              </a:solidFill>
              <a:latin typeface="Barlow" panose="00000500000000000000" pitchFamily="2" charset="0"/>
              <a:cs typeface="Sora" pitchFamily="2" charset="0"/>
            </a:endParaRPr>
          </a:p>
          <a:p>
            <a:r>
              <a:rPr lang="fr-FR" dirty="0">
                <a:solidFill>
                  <a:schemeClr val="accent6"/>
                </a:solidFill>
                <a:latin typeface="Barlow" panose="00000500000000000000" pitchFamily="2" charset="0"/>
                <a:cs typeface="Sora" pitchFamily="2" charset="0"/>
              </a:rPr>
              <a:t>Sur toutes vos preuves, vous devez utiliser le vocabulaire technique approprié</a:t>
            </a:r>
          </a:p>
          <a:p>
            <a:pPr lvl="0"/>
            <a:endParaRPr lang="fr-FR" sz="2400" b="1" dirty="0">
              <a:solidFill>
                <a:schemeClr val="accent1"/>
              </a:solidFill>
              <a:latin typeface="Barlow" panose="00000500000000000000" pitchFamily="2" charset="0"/>
              <a:cs typeface="Sora" pitchFamily="2" charset="0"/>
            </a:endParaRPr>
          </a:p>
          <a:p>
            <a:pPr lvl="0"/>
            <a:r>
              <a:rPr lang="fr-FR" sz="2400" b="1" dirty="0">
                <a:solidFill>
                  <a:schemeClr val="accent1"/>
                </a:solidFill>
                <a:latin typeface="Barlow" panose="00000500000000000000" pitchFamily="2" charset="0"/>
                <a:cs typeface="Sora" pitchFamily="2" charset="0"/>
              </a:rPr>
              <a:t>Sur le document texte</a:t>
            </a:r>
          </a:p>
          <a:p>
            <a:pPr lvl="0"/>
            <a:r>
              <a:rPr lang="fr-FR" dirty="0">
                <a:solidFill>
                  <a:srgbClr val="21154A"/>
                </a:solidFill>
                <a:latin typeface="Barlow" panose="00000500000000000000" pitchFamily="2" charset="0"/>
                <a:cs typeface="Sora" pitchFamily="2" charset="0"/>
              </a:rPr>
              <a:t>Faire apparaitre ce qui défini une compétence :</a:t>
            </a:r>
          </a:p>
          <a:p>
            <a:pPr lvl="0"/>
            <a:endParaRPr lang="fr-FR" dirty="0">
              <a:solidFill>
                <a:srgbClr val="21154A"/>
              </a:solidFill>
              <a:latin typeface="Barlow" panose="00000500000000000000" pitchFamily="2" charset="0"/>
              <a:cs typeface="Sora" pitchFamily="2" charset="0"/>
            </a:endParaRPr>
          </a:p>
          <a:p>
            <a:r>
              <a:rPr lang="fr-FR" dirty="0">
                <a:solidFill>
                  <a:srgbClr val="21154A"/>
                </a:solidFill>
                <a:latin typeface="Barlow" panose="00000500000000000000" pitchFamily="2" charset="0"/>
                <a:cs typeface="Sora" pitchFamily="2" charset="0"/>
              </a:rPr>
              <a:t>Contexte</a:t>
            </a:r>
          </a:p>
          <a:p>
            <a:pPr lvl="0"/>
            <a:r>
              <a:rPr lang="fr-FR" dirty="0">
                <a:solidFill>
                  <a:srgbClr val="21154A"/>
                </a:solidFill>
                <a:latin typeface="Barlow" panose="00000500000000000000" pitchFamily="2" charset="0"/>
                <a:cs typeface="Sora" pitchFamily="2" charset="0"/>
              </a:rPr>
              <a:t>Savoir mis en œuvre</a:t>
            </a:r>
          </a:p>
          <a:p>
            <a:pPr lvl="0"/>
            <a:r>
              <a:rPr lang="fr-FR" dirty="0">
                <a:solidFill>
                  <a:srgbClr val="21154A"/>
                </a:solidFill>
                <a:latin typeface="Barlow" panose="00000500000000000000" pitchFamily="2" charset="0"/>
                <a:cs typeface="Sora" pitchFamily="2" charset="0"/>
              </a:rPr>
              <a:t>Savoir-faire mis en œuvre</a:t>
            </a:r>
          </a:p>
          <a:p>
            <a:pPr lvl="0"/>
            <a:r>
              <a:rPr lang="fr-FR" dirty="0">
                <a:solidFill>
                  <a:srgbClr val="21154A"/>
                </a:solidFill>
                <a:latin typeface="Barlow" panose="00000500000000000000" pitchFamily="2" charset="0"/>
                <a:cs typeface="Sora" pitchFamily="2" charset="0"/>
              </a:rPr>
              <a:t>Savoir-être mis en œuvre </a:t>
            </a:r>
          </a:p>
          <a:p>
            <a:pPr lvl="0"/>
            <a:r>
              <a:rPr lang="fr-FR" dirty="0">
                <a:solidFill>
                  <a:srgbClr val="21154A"/>
                </a:solidFill>
                <a:latin typeface="Barlow" panose="00000500000000000000" pitchFamily="2" charset="0"/>
                <a:cs typeface="Sora" pitchFamily="2" charset="0"/>
              </a:rPr>
              <a:t>Tâche réalisée et les résultats</a:t>
            </a:r>
          </a:p>
          <a:p>
            <a:pPr lvl="0"/>
            <a:endParaRPr lang="fr-FR" dirty="0">
              <a:solidFill>
                <a:srgbClr val="21154A"/>
              </a:solidFill>
              <a:latin typeface="Barlow" panose="00000500000000000000" pitchFamily="2" charset="0"/>
              <a:cs typeface="Sora" pitchFamily="2" charset="0"/>
            </a:endParaRPr>
          </a:p>
          <a:p>
            <a:pPr lvl="0"/>
            <a:r>
              <a:rPr lang="fr-FR" dirty="0">
                <a:solidFill>
                  <a:srgbClr val="21154A"/>
                </a:solidFill>
                <a:latin typeface="Barlow" panose="00000500000000000000" pitchFamily="2" charset="0"/>
                <a:cs typeface="Sora" pitchFamily="2" charset="0"/>
              </a:rPr>
              <a:t>Et des captures, schémas, ... Des visuels </a:t>
            </a:r>
          </a:p>
          <a:p>
            <a:pPr lvl="0"/>
            <a:r>
              <a:rPr lang="fr-FR" dirty="0">
                <a:solidFill>
                  <a:srgbClr val="21154A"/>
                </a:solidFill>
                <a:latin typeface="Barlow" panose="00000500000000000000" pitchFamily="2" charset="0"/>
                <a:cs typeface="Sora" pitchFamily="2" charset="0"/>
              </a:rPr>
              <a:t>Les problèmes rencontrés et les solutions mises en œuvre pour les résoudre</a:t>
            </a:r>
          </a:p>
          <a:p>
            <a:pPr lvl="0"/>
            <a:endParaRPr lang="fr-FR" dirty="0">
              <a:solidFill>
                <a:srgbClr val="21154A"/>
              </a:solidFill>
              <a:latin typeface="Barlow" panose="00000500000000000000" pitchFamily="2" charset="0"/>
              <a:cs typeface="Sora" pitchFamily="2" charset="0"/>
            </a:endParaRPr>
          </a:p>
          <a:p>
            <a:pPr lvl="0"/>
            <a:r>
              <a:rPr lang="fr-FR" dirty="0">
                <a:solidFill>
                  <a:srgbClr val="21154A"/>
                </a:solidFill>
                <a:latin typeface="Barlow" panose="00000500000000000000" pitchFamily="2" charset="0"/>
                <a:cs typeface="Sora" pitchFamily="2" charset="0"/>
              </a:rPr>
              <a:t>A quoi vous fait penser ce genre de document ? </a:t>
            </a:r>
            <a:r>
              <a:rPr lang="fr-FR" b="1" dirty="0">
                <a:solidFill>
                  <a:schemeClr val="accent6"/>
                </a:solidFill>
                <a:latin typeface="Barlow" panose="00000500000000000000" pitchFamily="2" charset="0"/>
                <a:cs typeface="Sora" pitchFamily="2" charset="0"/>
              </a:rPr>
              <a:t>Votre futur rapport de stage</a:t>
            </a:r>
          </a:p>
          <a:p>
            <a:pPr lvl="0"/>
            <a:endParaRPr lang="fr-FR" sz="1300" b="1" dirty="0">
              <a:solidFill>
                <a:schemeClr val="accent6"/>
              </a:solidFill>
              <a:latin typeface="Barlow" panose="00000500000000000000" pitchFamily="2" charset="0"/>
              <a:cs typeface="Sora" pitchFamily="2" charset="0"/>
            </a:endParaRPr>
          </a:p>
          <a:p>
            <a:pPr lvl="0"/>
            <a:r>
              <a:rPr lang="fr-FR" sz="2400" b="1" dirty="0">
                <a:solidFill>
                  <a:schemeClr val="accent1"/>
                </a:solidFill>
                <a:latin typeface="Barlow" panose="00000500000000000000" pitchFamily="2" charset="0"/>
              </a:rPr>
              <a:t>Sur votre E-PORTFOLIO</a:t>
            </a:r>
            <a:r>
              <a:rPr lang="fr-FR" sz="1600" dirty="0">
                <a:solidFill>
                  <a:srgbClr val="21154A"/>
                </a:solidFill>
                <a:latin typeface="Barlow" panose="00000500000000000000" pitchFamily="2" charset="0"/>
                <a:cs typeface="Sora" pitchFamily="2" charset="0"/>
              </a:rPr>
              <a:t> </a:t>
            </a:r>
          </a:p>
          <a:p>
            <a:pPr lvl="0"/>
            <a:r>
              <a:rPr lang="fr-FR" dirty="0">
                <a:solidFill>
                  <a:srgbClr val="21154A"/>
                </a:solidFill>
                <a:latin typeface="Barlow" panose="00000500000000000000" pitchFamily="2" charset="0"/>
                <a:cs typeface="Sora" pitchFamily="2" charset="0"/>
              </a:rPr>
              <a:t>Mettre une synthèse, un ou plusieurs visuels accrocheurs</a:t>
            </a:r>
          </a:p>
          <a:p>
            <a:pPr lvl="0"/>
            <a:endParaRPr lang="fr-FR" sz="1300" dirty="0">
              <a:solidFill>
                <a:srgbClr val="21154A"/>
              </a:solidFill>
              <a:latin typeface="Barlow" panose="00000500000000000000" pitchFamily="2" charset="0"/>
              <a:cs typeface="Sora" pitchFamily="2" charset="0"/>
            </a:endParaRPr>
          </a:p>
          <a:p>
            <a:pPr lvl="0"/>
            <a:r>
              <a:rPr lang="fr-FR" sz="1300" dirty="0">
                <a:solidFill>
                  <a:srgbClr val="21154A"/>
                </a:solidFill>
                <a:latin typeface="Barlow" panose="00000500000000000000" pitchFamily="2" charset="0"/>
                <a:cs typeface="Sora" pitchFamily="2" charset="0"/>
              </a:rPr>
              <a:t> </a:t>
            </a:r>
          </a:p>
          <a:p>
            <a:pPr lvl="0"/>
            <a:endParaRPr lang="fr-FR" sz="1300" dirty="0">
              <a:solidFill>
                <a:srgbClr val="21154A"/>
              </a:solidFill>
              <a:latin typeface="Barlow" panose="00000500000000000000" pitchFamily="2" charset="0"/>
              <a:cs typeface="Sor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464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ZoneTexte 14">
            <a:extLst>
              <a:ext uri="{FF2B5EF4-FFF2-40B4-BE49-F238E27FC236}">
                <a16:creationId xmlns:a16="http://schemas.microsoft.com/office/drawing/2014/main" id="{09527504-7173-4C87-B18C-9F204624FDE5}"/>
              </a:ext>
            </a:extLst>
          </p:cNvPr>
          <p:cNvSpPr txBox="1"/>
          <p:nvPr/>
        </p:nvSpPr>
        <p:spPr>
          <a:xfrm>
            <a:off x="6787997" y="626407"/>
            <a:ext cx="49732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1200" b="1" dirty="0">
              <a:latin typeface="Sora" pitchFamily="2" charset="0"/>
              <a:cs typeface="Sora" pitchFamily="2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14106CF-F981-47A8-B90E-738C87547AD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86400" y="1845723"/>
            <a:ext cx="6705599" cy="501227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76FBA3B-4B74-4403-92CC-203C472FC767}"/>
              </a:ext>
            </a:extLst>
          </p:cNvPr>
          <p:cNvSpPr/>
          <p:nvPr/>
        </p:nvSpPr>
        <p:spPr>
          <a:xfrm>
            <a:off x="1533546" y="0"/>
            <a:ext cx="10658453" cy="6858000"/>
          </a:xfrm>
          <a:prstGeom prst="rect">
            <a:avLst/>
          </a:prstGeom>
          <a:gradFill>
            <a:gsLst>
              <a:gs pos="13000">
                <a:schemeClr val="accent1">
                  <a:alpha val="90000"/>
                </a:schemeClr>
              </a:gs>
              <a:gs pos="100000">
                <a:schemeClr val="accent3">
                  <a:alpha val="8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EEC6E84-32B7-4BA0-9E5B-8562AB971D7A}"/>
              </a:ext>
            </a:extLst>
          </p:cNvPr>
          <p:cNvSpPr txBox="1"/>
          <p:nvPr/>
        </p:nvSpPr>
        <p:spPr>
          <a:xfrm>
            <a:off x="2383435" y="3044279"/>
            <a:ext cx="74126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dirty="0">
                <a:solidFill>
                  <a:schemeClr val="bg1"/>
                </a:solidFill>
                <a:latin typeface="Sora ExtraLight" pitchFamily="2" charset="0"/>
                <a:cs typeface="Sora ExtraLight" pitchFamily="2" charset="0"/>
              </a:rPr>
              <a:t>L’analyse réflexive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D6C83F3B-0948-4907-A1ED-10C25FAD7863}"/>
              </a:ext>
            </a:extLst>
          </p:cNvPr>
          <p:cNvSpPr txBox="1"/>
          <p:nvPr/>
        </p:nvSpPr>
        <p:spPr>
          <a:xfrm>
            <a:off x="11112829" y="-1"/>
            <a:ext cx="90281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fr-FR" sz="8800" dirty="0">
                <a:solidFill>
                  <a:schemeClr val="bg1"/>
                </a:solidFill>
                <a:latin typeface="Sora ExtraBold" pitchFamily="2" charset="0"/>
                <a:cs typeface="Sora ExtraBold" pitchFamily="2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74629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2E40CE12-EACD-4F9C-847C-BE99472B3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747" y="1340469"/>
            <a:ext cx="7515987" cy="491260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AD3CD38-2BEC-420B-9360-9D0F7A96BF28}"/>
              </a:ext>
            </a:extLst>
          </p:cNvPr>
          <p:cNvSpPr/>
          <p:nvPr/>
        </p:nvSpPr>
        <p:spPr bwMode="auto">
          <a:xfrm>
            <a:off x="1226892" y="133082"/>
            <a:ext cx="3281855" cy="67249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21154A"/>
                </a:solidFill>
                <a:effectLst/>
                <a:uLnTx/>
                <a:uFillTx/>
                <a:latin typeface="Sora ExtraLight" pitchFamily="2" charset="0"/>
                <a:ea typeface="+mn-ea"/>
                <a:cs typeface="Sora ExtraLight" pitchFamily="2" charset="0"/>
              </a:rPr>
              <a:t>Portfolio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>
                <a:ln>
                  <a:noFill/>
                </a:ln>
                <a:solidFill>
                  <a:srgbClr val="21154A"/>
                </a:solidFill>
                <a:effectLst/>
                <a:uLnTx/>
                <a:uFillTx/>
                <a:latin typeface="Sora ExtraBold" pitchFamily="2" charset="0"/>
                <a:ea typeface="+mn-ea"/>
                <a:cs typeface="Sora ExtraBold" pitchFamily="2" charset="0"/>
              </a:rPr>
              <a:t>L’Analyse  </a:t>
            </a:r>
            <a:r>
              <a:rPr kumimoji="0" lang="fr-FR" sz="4000" b="0" i="0" u="none" strike="noStrike" kern="1200" cap="none" spc="0" normalizeH="0" baseline="0" noProof="0" dirty="0">
                <a:ln>
                  <a:noFill/>
                </a:ln>
                <a:solidFill>
                  <a:srgbClr val="6F938C"/>
                </a:solidFill>
                <a:effectLst/>
                <a:uLnTx/>
                <a:uFillTx/>
                <a:latin typeface="Sora ExtraBold" pitchFamily="2" charset="0"/>
                <a:ea typeface="+mn-ea"/>
                <a:cs typeface="Sora ExtraBold" pitchFamily="2" charset="0"/>
              </a:rPr>
              <a:t>Réflexive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rgbClr val="21154A"/>
              </a:solidFill>
              <a:effectLst/>
              <a:uLnTx/>
              <a:uFillTx/>
              <a:latin typeface="Barlow" panose="00000500000000000000" pitchFamily="2" charset="0"/>
              <a:ea typeface="+mn-ea"/>
              <a:cs typeface="Sora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L’analyse réflexive est une démarche pédagogique qui incite l’individu à observer et évaluer ses propres actions tout en les réalisant.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Ce processus peut être visualisé comme le fait de « marcher tout en se regardant marcher »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srgbClr val="21154A"/>
              </a:solidFill>
              <a:effectLst/>
              <a:uLnTx/>
              <a:uFillTx/>
              <a:latin typeface="Barlow" panose="00000500000000000000" pitchFamily="2" charset="0"/>
              <a:ea typeface="+mn-ea"/>
              <a:cs typeface="Sora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srgbClr val="21154A"/>
              </a:solidFill>
              <a:effectLst/>
              <a:uLnTx/>
              <a:uFillTx/>
              <a:latin typeface="Barlow" panose="00000500000000000000" pitchFamily="2" charset="0"/>
              <a:ea typeface="+mn-ea"/>
              <a:cs typeface="Sora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 pratique, cela signifie que l’apprenant ou le professionnel engage une double tâche :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Exécuter l’activité et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Simultanément réfléchir sur cette exécution, en évaluant 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les décisions prises,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les méthodes employées,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et les résultats obtenus.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0" i="0" u="none" strike="noStrike" kern="1200" cap="none" spc="0" normalizeH="0" baseline="0" noProof="0" dirty="0">
                <a:ln>
                  <a:noFill/>
                </a:ln>
                <a:solidFill>
                  <a:srgbClr val="21154A"/>
                </a:solidFill>
                <a:effectLst/>
                <a:uLnTx/>
                <a:uFillTx/>
                <a:latin typeface="Barlow" panose="00000500000000000000" pitchFamily="2" charset="0"/>
                <a:ea typeface="+mn-ea"/>
                <a:cs typeface="Sora" pitchFamily="2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rgbClr val="21154A"/>
              </a:solidFill>
              <a:effectLst/>
              <a:uLnTx/>
              <a:uFillTx/>
              <a:latin typeface="Barlow" panose="00000500000000000000" pitchFamily="2" charset="0"/>
              <a:ea typeface="+mn-ea"/>
              <a:cs typeface="Sor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4685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2E40CE12-EACD-4F9C-847C-BE99472B3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140" y="1432748"/>
            <a:ext cx="7515987" cy="491260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AD3CD38-2BEC-420B-9360-9D0F7A96BF28}"/>
              </a:ext>
            </a:extLst>
          </p:cNvPr>
          <p:cNvSpPr/>
          <p:nvPr/>
        </p:nvSpPr>
        <p:spPr bwMode="auto">
          <a:xfrm>
            <a:off x="1235281" y="488118"/>
            <a:ext cx="3281855" cy="540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21154A"/>
                </a:solidFill>
                <a:effectLst/>
                <a:uLnTx/>
                <a:uFillTx/>
                <a:latin typeface="Sora ExtraLight" pitchFamily="2" charset="0"/>
                <a:ea typeface="+mn-ea"/>
                <a:cs typeface="Sora ExtraLight" pitchFamily="2" charset="0"/>
              </a:rPr>
              <a:t>Portfolio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>
                <a:ln>
                  <a:noFill/>
                </a:ln>
                <a:solidFill>
                  <a:srgbClr val="21154A"/>
                </a:solidFill>
                <a:effectLst/>
                <a:uLnTx/>
                <a:uFillTx/>
                <a:latin typeface="Sora ExtraBold" pitchFamily="2" charset="0"/>
                <a:ea typeface="+mn-ea"/>
                <a:cs typeface="Sora ExtraBold" pitchFamily="2" charset="0"/>
              </a:rPr>
              <a:t>L’Analyse  </a:t>
            </a:r>
            <a:r>
              <a:rPr kumimoji="0" lang="fr-FR" sz="4000" b="0" i="0" u="none" strike="noStrike" kern="1200" cap="none" spc="0" normalizeH="0" baseline="0" noProof="0" dirty="0">
                <a:ln>
                  <a:noFill/>
                </a:ln>
                <a:solidFill>
                  <a:srgbClr val="6F938C"/>
                </a:solidFill>
                <a:effectLst/>
                <a:uLnTx/>
                <a:uFillTx/>
                <a:latin typeface="Sora ExtraBold" pitchFamily="2" charset="0"/>
                <a:ea typeface="+mn-ea"/>
                <a:cs typeface="Sora ExtraBold" pitchFamily="2" charset="0"/>
              </a:rPr>
              <a:t>Réflexive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rgbClr val="21154A"/>
              </a:solidFill>
              <a:effectLst/>
              <a:uLnTx/>
              <a:uFillTx/>
              <a:latin typeface="Barlow" panose="00000500000000000000" pitchFamily="2" charset="0"/>
              <a:ea typeface="+mn-ea"/>
              <a:cs typeface="Sora" pitchFamily="2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Avant l’action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: dans cette phase préparatoire, l’analyse réflexive aide à planifier.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Les questionnements à ce stade incluent des réflexions sur 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Les objectifs,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les stratégies prévues,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les compétences nécessaires.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Quels sont mes objectifs pour cette activité ?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Quelles stratégies vais-je utiliser pour atteindre ces objectifs ?</a:t>
            </a: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rgbClr val="21154A"/>
              </a:solidFill>
              <a:effectLst/>
              <a:uLnTx/>
              <a:uFillTx/>
              <a:latin typeface="Barlow" panose="00000500000000000000" pitchFamily="2" charset="0"/>
              <a:ea typeface="+mn-ea"/>
              <a:cs typeface="Sora" pitchFamily="2" charset="0"/>
            </a:endParaRP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F60CB7C5-F6D0-44CA-BB98-B5AF7FE49D18}"/>
              </a:ext>
            </a:extLst>
          </p:cNvPr>
          <p:cNvSpPr/>
          <p:nvPr/>
        </p:nvSpPr>
        <p:spPr>
          <a:xfrm>
            <a:off x="7013448" y="4343400"/>
            <a:ext cx="384048" cy="160934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7FB6E516-9DC2-4302-AAE9-5DA039AF33D4}"/>
              </a:ext>
            </a:extLst>
          </p:cNvPr>
          <p:cNvSpPr/>
          <p:nvPr/>
        </p:nvSpPr>
        <p:spPr>
          <a:xfrm>
            <a:off x="8638032" y="3084377"/>
            <a:ext cx="384048" cy="160934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6AD3FA11-4D50-4A5D-BC4A-4B78D903F035}"/>
              </a:ext>
            </a:extLst>
          </p:cNvPr>
          <p:cNvSpPr/>
          <p:nvPr/>
        </p:nvSpPr>
        <p:spPr>
          <a:xfrm>
            <a:off x="7205472" y="5257799"/>
            <a:ext cx="1581912" cy="1371401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ACD9FF8A-BDC0-4ED1-B9BE-3FFA848B4465}"/>
              </a:ext>
            </a:extLst>
          </p:cNvPr>
          <p:cNvSpPr/>
          <p:nvPr/>
        </p:nvSpPr>
        <p:spPr>
          <a:xfrm>
            <a:off x="8574024" y="3493009"/>
            <a:ext cx="1581912" cy="93268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88409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2E40CE12-EACD-4F9C-847C-BE99472B3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140" y="1432748"/>
            <a:ext cx="7515987" cy="491260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AD3CD38-2BEC-420B-9360-9D0F7A96BF28}"/>
              </a:ext>
            </a:extLst>
          </p:cNvPr>
          <p:cNvSpPr/>
          <p:nvPr/>
        </p:nvSpPr>
        <p:spPr bwMode="auto">
          <a:xfrm>
            <a:off x="1235281" y="488118"/>
            <a:ext cx="3281855" cy="29392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21154A"/>
                </a:solidFill>
                <a:effectLst/>
                <a:uLnTx/>
                <a:uFillTx/>
                <a:latin typeface="Sora ExtraLight" pitchFamily="2" charset="0"/>
                <a:ea typeface="+mn-ea"/>
                <a:cs typeface="Sora ExtraLight" pitchFamily="2" charset="0"/>
              </a:rPr>
              <a:t>Portfolio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>
                <a:ln>
                  <a:noFill/>
                </a:ln>
                <a:solidFill>
                  <a:srgbClr val="21154A"/>
                </a:solidFill>
                <a:effectLst/>
                <a:uLnTx/>
                <a:uFillTx/>
                <a:latin typeface="Sora ExtraBold" pitchFamily="2" charset="0"/>
                <a:ea typeface="+mn-ea"/>
                <a:cs typeface="Sora ExtraBold" pitchFamily="2" charset="0"/>
              </a:rPr>
              <a:t>L’Analyse  </a:t>
            </a:r>
            <a:r>
              <a:rPr kumimoji="0" lang="fr-FR" sz="4000" b="0" i="0" u="none" strike="noStrike" kern="1200" cap="none" spc="0" normalizeH="0" baseline="0" noProof="0" dirty="0">
                <a:ln>
                  <a:noFill/>
                </a:ln>
                <a:solidFill>
                  <a:srgbClr val="6F938C"/>
                </a:solidFill>
                <a:effectLst/>
                <a:uLnTx/>
                <a:uFillTx/>
                <a:latin typeface="Sora ExtraBold" pitchFamily="2" charset="0"/>
                <a:ea typeface="+mn-ea"/>
                <a:cs typeface="Sora ExtraBold" pitchFamily="2" charset="0"/>
              </a:rPr>
              <a:t>Réflexive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rgbClr val="21154A"/>
              </a:solidFill>
              <a:effectLst/>
              <a:uLnTx/>
              <a:uFillTx/>
              <a:latin typeface="Barlow" panose="00000500000000000000" pitchFamily="2" charset="0"/>
              <a:ea typeface="+mn-ea"/>
              <a:cs typeface="Sora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2. Exécution du projet (pendant l’action)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Vous formaliserez les étapes 1 et 2 du modèle de Gibbs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F60CB7C5-F6D0-44CA-BB98-B5AF7FE49D18}"/>
              </a:ext>
            </a:extLst>
          </p:cNvPr>
          <p:cNvSpPr/>
          <p:nvPr/>
        </p:nvSpPr>
        <p:spPr>
          <a:xfrm>
            <a:off x="5397587" y="3084377"/>
            <a:ext cx="384048" cy="160934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7FB6E516-9DC2-4302-AAE9-5DA039AF33D4}"/>
              </a:ext>
            </a:extLst>
          </p:cNvPr>
          <p:cNvSpPr/>
          <p:nvPr/>
        </p:nvSpPr>
        <p:spPr>
          <a:xfrm>
            <a:off x="8638032" y="3084377"/>
            <a:ext cx="384048" cy="160934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6AD3FA11-4D50-4A5D-BC4A-4B78D903F035}"/>
              </a:ext>
            </a:extLst>
          </p:cNvPr>
          <p:cNvSpPr/>
          <p:nvPr/>
        </p:nvSpPr>
        <p:spPr>
          <a:xfrm>
            <a:off x="5660976" y="3422705"/>
            <a:ext cx="1398191" cy="78353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ACD9FF8A-BDC0-4ED1-B9BE-3FFA848B4465}"/>
              </a:ext>
            </a:extLst>
          </p:cNvPr>
          <p:cNvSpPr/>
          <p:nvPr/>
        </p:nvSpPr>
        <p:spPr>
          <a:xfrm>
            <a:off x="8574024" y="3493009"/>
            <a:ext cx="1581912" cy="93268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31312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2E40CE12-EACD-4F9C-847C-BE99472B3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140" y="1432748"/>
            <a:ext cx="7515987" cy="491260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AD3CD38-2BEC-420B-9360-9D0F7A96BF28}"/>
              </a:ext>
            </a:extLst>
          </p:cNvPr>
          <p:cNvSpPr/>
          <p:nvPr/>
        </p:nvSpPr>
        <p:spPr bwMode="auto">
          <a:xfrm>
            <a:off x="613625" y="225415"/>
            <a:ext cx="3871184" cy="6632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21154A"/>
                </a:solidFill>
                <a:effectLst/>
                <a:uLnTx/>
                <a:uFillTx/>
                <a:latin typeface="Sora ExtraLight" pitchFamily="2" charset="0"/>
                <a:ea typeface="+mn-ea"/>
                <a:cs typeface="Sora ExtraLight" pitchFamily="2" charset="0"/>
              </a:rPr>
              <a:t>Portfolio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>
                <a:ln>
                  <a:noFill/>
                </a:ln>
                <a:solidFill>
                  <a:srgbClr val="21154A"/>
                </a:solidFill>
                <a:effectLst/>
                <a:uLnTx/>
                <a:uFillTx/>
                <a:latin typeface="Sora ExtraBold" pitchFamily="2" charset="0"/>
                <a:ea typeface="+mn-ea"/>
                <a:cs typeface="Sora ExtraBold" pitchFamily="2" charset="0"/>
              </a:rPr>
              <a:t>L’Analyse  </a:t>
            </a:r>
            <a:r>
              <a:rPr kumimoji="0" lang="fr-FR" sz="4000" b="0" i="0" u="none" strike="noStrike" kern="1200" cap="none" spc="0" normalizeH="0" baseline="0" noProof="0" dirty="0">
                <a:ln>
                  <a:noFill/>
                </a:ln>
                <a:solidFill>
                  <a:srgbClr val="6F938C"/>
                </a:solidFill>
                <a:effectLst/>
                <a:uLnTx/>
                <a:uFillTx/>
                <a:latin typeface="Sora ExtraBold" pitchFamily="2" charset="0"/>
                <a:ea typeface="+mn-ea"/>
                <a:cs typeface="Sora ExtraBold" pitchFamily="2" charset="0"/>
              </a:rPr>
              <a:t>Réflexive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rgbClr val="21154A"/>
              </a:solidFill>
              <a:effectLst/>
              <a:uLnTx/>
              <a:uFillTx/>
              <a:latin typeface="Barlow" panose="00000500000000000000" pitchFamily="2" charset="0"/>
              <a:ea typeface="+mn-ea"/>
              <a:cs typeface="Sora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3. Révision et évaluation (après l’action)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: À la conclusion du projet, les étudiants réfléchissent sur le processus et les résultats obtenus.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Quelles compétences ai-je développées durant ce projet ?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 puis-je conclure sur cette situation, sur ma manière d’apprendre, sur mes compétences acquises  ?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Qu’aurais-je pu faire différemment 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 la situation se présentait à nouveau, que pourrais-je faire autrement ?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Quel plan d’action vais-je mettre en œuvre à partir de ces apprentissages ?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F60CB7C5-F6D0-44CA-BB98-B5AF7FE49D18}"/>
              </a:ext>
            </a:extLst>
          </p:cNvPr>
          <p:cNvSpPr/>
          <p:nvPr/>
        </p:nvSpPr>
        <p:spPr>
          <a:xfrm>
            <a:off x="5397587" y="3084377"/>
            <a:ext cx="384048" cy="160934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7FB6E516-9DC2-4302-AAE9-5DA039AF33D4}"/>
              </a:ext>
            </a:extLst>
          </p:cNvPr>
          <p:cNvSpPr/>
          <p:nvPr/>
        </p:nvSpPr>
        <p:spPr>
          <a:xfrm>
            <a:off x="7037832" y="4346198"/>
            <a:ext cx="384048" cy="160934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6AD3FA11-4D50-4A5D-BC4A-4B78D903F035}"/>
              </a:ext>
            </a:extLst>
          </p:cNvPr>
          <p:cNvSpPr/>
          <p:nvPr/>
        </p:nvSpPr>
        <p:spPr>
          <a:xfrm>
            <a:off x="5660976" y="3422705"/>
            <a:ext cx="1398191" cy="78353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ACD9FF8A-BDC0-4ED1-B9BE-3FFA848B4465}"/>
              </a:ext>
            </a:extLst>
          </p:cNvPr>
          <p:cNvSpPr/>
          <p:nvPr/>
        </p:nvSpPr>
        <p:spPr>
          <a:xfrm>
            <a:off x="6982968" y="5412662"/>
            <a:ext cx="1932432" cy="93268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21415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D3CD38-2BEC-420B-9360-9D0F7A96BF28}"/>
              </a:ext>
            </a:extLst>
          </p:cNvPr>
          <p:cNvSpPr/>
          <p:nvPr/>
        </p:nvSpPr>
        <p:spPr bwMode="auto">
          <a:xfrm>
            <a:off x="1235281" y="488118"/>
            <a:ext cx="7388766" cy="13696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21154A"/>
                </a:solidFill>
                <a:effectLst/>
                <a:uLnTx/>
                <a:uFillTx/>
                <a:latin typeface="Sora ExtraLight" pitchFamily="2" charset="0"/>
                <a:ea typeface="+mn-ea"/>
                <a:cs typeface="Sora ExtraLight" pitchFamily="2" charset="0"/>
              </a:rPr>
              <a:t>Portfolio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>
                <a:ln>
                  <a:noFill/>
                </a:ln>
                <a:solidFill>
                  <a:srgbClr val="21154A"/>
                </a:solidFill>
                <a:effectLst/>
                <a:uLnTx/>
                <a:uFillTx/>
                <a:latin typeface="Sora ExtraBold" pitchFamily="2" charset="0"/>
                <a:ea typeface="+mn-ea"/>
                <a:cs typeface="Sora ExtraBold" pitchFamily="2" charset="0"/>
              </a:rPr>
              <a:t>L’Analyse  </a:t>
            </a:r>
            <a:r>
              <a:rPr kumimoji="0" lang="fr-FR" sz="4000" b="0" i="0" u="none" strike="noStrike" kern="1200" cap="none" spc="0" normalizeH="0" baseline="0" noProof="0" dirty="0">
                <a:ln>
                  <a:noFill/>
                </a:ln>
                <a:solidFill>
                  <a:srgbClr val="6F938C"/>
                </a:solidFill>
                <a:effectLst/>
                <a:uLnTx/>
                <a:uFillTx/>
                <a:latin typeface="Sora ExtraBold" pitchFamily="2" charset="0"/>
                <a:ea typeface="+mn-ea"/>
                <a:cs typeface="Sora ExtraBold" pitchFamily="2" charset="0"/>
              </a:rPr>
              <a:t>Réflexive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21154A"/>
              </a:solidFill>
              <a:effectLst/>
              <a:uLnTx/>
              <a:uFillTx/>
              <a:latin typeface="Barlow" panose="00000500000000000000" pitchFamily="2" charset="0"/>
              <a:ea typeface="+mn-ea"/>
              <a:cs typeface="Sora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0" i="0" u="none" strike="noStrike" kern="1200" cap="none" spc="0" normalizeH="0" baseline="0" noProof="0" dirty="0">
                <a:ln>
                  <a:noFill/>
                </a:ln>
                <a:solidFill>
                  <a:srgbClr val="21154A"/>
                </a:solidFill>
                <a:effectLst/>
                <a:uLnTx/>
                <a:uFillTx/>
                <a:latin typeface="Barlow" panose="00000500000000000000" pitchFamily="2" charset="0"/>
                <a:ea typeface="+mn-ea"/>
                <a:cs typeface="Sora" pitchFamily="2" charset="0"/>
              </a:rPr>
              <a:t> Rappel : modèle de Gibbs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ACD9FF8A-BDC0-4ED1-B9BE-3FFA848B4465}"/>
              </a:ext>
            </a:extLst>
          </p:cNvPr>
          <p:cNvSpPr/>
          <p:nvPr/>
        </p:nvSpPr>
        <p:spPr>
          <a:xfrm>
            <a:off x="6982968" y="5412662"/>
            <a:ext cx="1932432" cy="93268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2ED42F9-75FF-4FBE-8B37-83831F6A8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73" y="2177586"/>
            <a:ext cx="3981418" cy="4006498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66C6ACB6-21B6-4B1A-A84B-F70369A19CFC}"/>
              </a:ext>
            </a:extLst>
          </p:cNvPr>
          <p:cNvSpPr txBox="1"/>
          <p:nvPr/>
        </p:nvSpPr>
        <p:spPr>
          <a:xfrm>
            <a:off x="4806892" y="1580570"/>
            <a:ext cx="7172587" cy="461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1.Description des </a:t>
            </a: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faits : 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Sans analyse ni évaluation, juste une description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2.Investigation de l’</a:t>
            </a: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expérience subjective : 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lister les émotions ressenties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3.Phase d’</a:t>
            </a: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analyse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et d’</a:t>
            </a: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évaluation : 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d’analyser les informations sur mes apprentissages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4.Conclusions et </a:t>
            </a: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plans pour l’avenir : 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 formaliser et structurer mes apprentissages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5.Retour à l’</a:t>
            </a: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action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2210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D3CD38-2BEC-420B-9360-9D0F7A96BF28}"/>
              </a:ext>
            </a:extLst>
          </p:cNvPr>
          <p:cNvSpPr/>
          <p:nvPr/>
        </p:nvSpPr>
        <p:spPr bwMode="auto">
          <a:xfrm>
            <a:off x="1235281" y="488118"/>
            <a:ext cx="7388766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21154A"/>
                </a:solidFill>
                <a:effectLst/>
                <a:uLnTx/>
                <a:uFillTx/>
                <a:latin typeface="Sora ExtraLight" pitchFamily="2" charset="0"/>
                <a:ea typeface="+mn-ea"/>
                <a:cs typeface="Sora ExtraLight" pitchFamily="2" charset="0"/>
              </a:rPr>
              <a:t>Portfolio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>
                <a:ln>
                  <a:noFill/>
                </a:ln>
                <a:solidFill>
                  <a:srgbClr val="21154A"/>
                </a:solidFill>
                <a:effectLst/>
                <a:uLnTx/>
                <a:uFillTx/>
                <a:latin typeface="Sora ExtraBold" pitchFamily="2" charset="0"/>
                <a:ea typeface="+mn-ea"/>
                <a:cs typeface="Sora ExtraBold" pitchFamily="2" charset="0"/>
              </a:rPr>
              <a:t>L’Analyse  </a:t>
            </a:r>
            <a:r>
              <a:rPr kumimoji="0" lang="fr-FR" sz="4000" b="0" i="0" u="none" strike="noStrike" kern="1200" cap="none" spc="0" normalizeH="0" baseline="0" noProof="0" dirty="0">
                <a:ln>
                  <a:noFill/>
                </a:ln>
                <a:solidFill>
                  <a:srgbClr val="6F938C"/>
                </a:solidFill>
                <a:effectLst/>
                <a:uLnTx/>
                <a:uFillTx/>
                <a:latin typeface="Sora ExtraBold" pitchFamily="2" charset="0"/>
                <a:ea typeface="+mn-ea"/>
                <a:cs typeface="Sora ExtraBold" pitchFamily="2" charset="0"/>
              </a:rPr>
              <a:t>Réflexive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21154A"/>
              </a:solidFill>
              <a:effectLst/>
              <a:uLnTx/>
              <a:uFillTx/>
              <a:latin typeface="Barlow" panose="00000500000000000000" pitchFamily="2" charset="0"/>
              <a:ea typeface="+mn-ea"/>
              <a:cs typeface="Sora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21154A"/>
                </a:solidFill>
                <a:effectLst/>
                <a:uLnTx/>
                <a:uFillTx/>
                <a:latin typeface="Barlow" panose="00000500000000000000" pitchFamily="2" charset="0"/>
                <a:ea typeface="+mn-ea"/>
                <a:cs typeface="Sora" pitchFamily="2" charset="0"/>
              </a:rPr>
              <a:t>Que se passe-t-il?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21154A"/>
                </a:solidFill>
                <a:effectLst/>
                <a:uLnTx/>
                <a:uFillTx/>
                <a:latin typeface="Barlow" panose="00000500000000000000" pitchFamily="2" charset="0"/>
                <a:ea typeface="+mn-ea"/>
                <a:cs typeface="Sora" pitchFamily="2" charset="0"/>
              </a:rPr>
              <a:t>Questions pour bien comprendre la pratique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21154A"/>
                </a:solidFill>
                <a:effectLst/>
                <a:uLnTx/>
                <a:uFillTx/>
                <a:latin typeface="Barlow" panose="00000500000000000000" pitchFamily="2" charset="0"/>
                <a:ea typeface="+mn-ea"/>
                <a:cs typeface="Sora" pitchFamily="2" charset="0"/>
              </a:rPr>
              <a:t>Verbaliser le contexte, l’action, la pratique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21154A"/>
                </a:solidFill>
                <a:effectLst/>
                <a:uLnTx/>
                <a:uFillTx/>
                <a:latin typeface="Barlow" panose="00000500000000000000" pitchFamily="2" charset="0"/>
                <a:ea typeface="+mn-ea"/>
                <a:cs typeface="Sora" pitchFamily="2" charset="0"/>
              </a:rPr>
              <a:t>Pas d’évaluation, ni jugement ou critique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21154A"/>
                </a:solidFill>
                <a:effectLst/>
                <a:uLnTx/>
                <a:uFillTx/>
                <a:latin typeface="Barlow" panose="00000500000000000000" pitchFamily="2" charset="0"/>
                <a:ea typeface="+mn-ea"/>
                <a:cs typeface="Sora" pitchFamily="2" charset="0"/>
              </a:rPr>
              <a:t>Encourager l’expression du déroulement temporel de la suite des actions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21154A"/>
              </a:solidFill>
              <a:effectLst/>
              <a:uLnTx/>
              <a:uFillTx/>
              <a:latin typeface="Barlow" panose="00000500000000000000" pitchFamily="2" charset="0"/>
              <a:ea typeface="+mn-ea"/>
              <a:cs typeface="Sora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21154A"/>
                </a:solidFill>
                <a:effectLst/>
                <a:uLnTx/>
                <a:uFillTx/>
                <a:latin typeface="Barlow" panose="00000500000000000000" pitchFamily="2" charset="0"/>
                <a:ea typeface="+mn-ea"/>
                <a:cs typeface="Sora" pitchFamily="2" charset="0"/>
              </a:rPr>
              <a:t>Comment cela se passe (déroulement, circonstances)?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21154A"/>
                </a:solidFill>
                <a:effectLst/>
                <a:uLnTx/>
                <a:uFillTx/>
                <a:latin typeface="Barlow" panose="00000500000000000000" pitchFamily="2" charset="0"/>
                <a:ea typeface="+mn-ea"/>
                <a:cs typeface="Sora" pitchFamily="2" charset="0"/>
              </a:rPr>
              <a:t>Les circonstances, le contexte, le déroulement temporel, le ressenti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srgbClr val="21154A"/>
              </a:solidFill>
              <a:effectLst/>
              <a:uLnTx/>
              <a:uFillTx/>
              <a:latin typeface="Barlow" panose="00000500000000000000" pitchFamily="2" charset="0"/>
              <a:ea typeface="+mn-ea"/>
              <a:cs typeface="Sora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21154A"/>
                </a:solidFill>
                <a:effectLst/>
                <a:uLnTx/>
                <a:uFillTx/>
                <a:latin typeface="Barlow" panose="00000500000000000000" pitchFamily="2" charset="0"/>
                <a:ea typeface="+mn-ea"/>
                <a:cs typeface="Sora" pitchFamily="2" charset="0"/>
              </a:rPr>
              <a:t>Pourquoi cela se passe-t-il ainsi 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21154A"/>
                </a:solidFill>
                <a:effectLst/>
                <a:uLnTx/>
                <a:uFillTx/>
                <a:latin typeface="Barlow" panose="00000500000000000000" pitchFamily="2" charset="0"/>
                <a:ea typeface="+mn-ea"/>
                <a:cs typeface="Sora" pitchFamily="2" charset="0"/>
              </a:rPr>
              <a:t>Réfléchir à sa pratique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21154A"/>
                </a:solidFill>
                <a:effectLst/>
                <a:uLnTx/>
                <a:uFillTx/>
                <a:latin typeface="Barlow" panose="00000500000000000000" pitchFamily="2" charset="0"/>
                <a:ea typeface="+mn-ea"/>
                <a:cs typeface="Sora" pitchFamily="2" charset="0"/>
              </a:rPr>
              <a:t>S’auto évaluer et auto critiquer ses idées et ses actions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21154A"/>
                </a:solidFill>
                <a:effectLst/>
                <a:uLnTx/>
                <a:uFillTx/>
                <a:latin typeface="Barlow" panose="00000500000000000000" pitchFamily="2" charset="0"/>
                <a:ea typeface="+mn-ea"/>
                <a:cs typeface="Sora" pitchFamily="2" charset="0"/>
              </a:rPr>
              <a:t>Porter un regard sur son processus d’apprentissage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21154A"/>
                </a:solidFill>
                <a:effectLst/>
                <a:uLnTx/>
                <a:uFillTx/>
                <a:latin typeface="Barlow" panose="00000500000000000000" pitchFamily="2" charset="0"/>
                <a:ea typeface="+mn-ea"/>
                <a:cs typeface="Sora" pitchFamily="2" charset="0"/>
              </a:rPr>
              <a:t>Explorer des façons de faire dans d’autres circonstances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21154A"/>
              </a:solidFill>
              <a:effectLst/>
              <a:uLnTx/>
              <a:uFillTx/>
              <a:latin typeface="Barlow" panose="00000500000000000000" pitchFamily="2" charset="0"/>
              <a:ea typeface="+mn-ea"/>
              <a:cs typeface="Sora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21154A"/>
                </a:solidFill>
                <a:effectLst/>
                <a:uLnTx/>
                <a:uFillTx/>
                <a:latin typeface="Barlow" panose="00000500000000000000" pitchFamily="2" charset="0"/>
                <a:ea typeface="+mn-ea"/>
                <a:cs typeface="Sora" pitchFamily="2" charset="0"/>
              </a:rPr>
              <a:t>Que peut-on améliorer?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srgbClr val="21154A"/>
              </a:solidFill>
              <a:effectLst/>
              <a:uLnTx/>
              <a:uFillTx/>
              <a:latin typeface="Barlow" panose="00000500000000000000" pitchFamily="2" charset="0"/>
              <a:ea typeface="+mn-ea"/>
              <a:cs typeface="Sora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21154A"/>
                </a:solidFill>
                <a:effectLst/>
                <a:uLnTx/>
                <a:uFillTx/>
                <a:latin typeface="Barlow" panose="00000500000000000000" pitchFamily="2" charset="0"/>
                <a:ea typeface="+mn-ea"/>
                <a:cs typeface="Sora" pitchFamily="2" charset="0"/>
              </a:rPr>
              <a:t>Comment peut-on améliorer 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0" normalizeH="0" baseline="0" noProof="0" dirty="0">
                <a:ln>
                  <a:noFill/>
                </a:ln>
                <a:solidFill>
                  <a:srgbClr val="21154A"/>
                </a:solidFill>
                <a:effectLst/>
                <a:uLnTx/>
                <a:uFillTx/>
                <a:latin typeface="Barlow" panose="00000500000000000000" pitchFamily="2" charset="0"/>
                <a:ea typeface="+mn-ea"/>
                <a:cs typeface="Sora" pitchFamily="2" charset="0"/>
              </a:rPr>
              <a:t> 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ACD9FF8A-BDC0-4ED1-B9BE-3FFA848B4465}"/>
              </a:ext>
            </a:extLst>
          </p:cNvPr>
          <p:cNvSpPr/>
          <p:nvPr/>
        </p:nvSpPr>
        <p:spPr>
          <a:xfrm>
            <a:off x="6982968" y="5412662"/>
            <a:ext cx="1932432" cy="93268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0731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ZoneTexte 14">
            <a:extLst>
              <a:ext uri="{FF2B5EF4-FFF2-40B4-BE49-F238E27FC236}">
                <a16:creationId xmlns:a16="http://schemas.microsoft.com/office/drawing/2014/main" id="{09527504-7173-4C87-B18C-9F204624FDE5}"/>
              </a:ext>
            </a:extLst>
          </p:cNvPr>
          <p:cNvSpPr txBox="1"/>
          <p:nvPr/>
        </p:nvSpPr>
        <p:spPr>
          <a:xfrm>
            <a:off x="6787997" y="626407"/>
            <a:ext cx="49732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1200" b="1" dirty="0">
              <a:latin typeface="Sora" pitchFamily="2" charset="0"/>
              <a:cs typeface="Sora" pitchFamily="2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14106CF-F981-47A8-B90E-738C87547AD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86400" y="1845723"/>
            <a:ext cx="6705599" cy="501227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76FBA3B-4B74-4403-92CC-203C472FC767}"/>
              </a:ext>
            </a:extLst>
          </p:cNvPr>
          <p:cNvSpPr/>
          <p:nvPr/>
        </p:nvSpPr>
        <p:spPr>
          <a:xfrm>
            <a:off x="1533546" y="0"/>
            <a:ext cx="10658453" cy="6858000"/>
          </a:xfrm>
          <a:prstGeom prst="rect">
            <a:avLst/>
          </a:prstGeom>
          <a:gradFill>
            <a:gsLst>
              <a:gs pos="13000">
                <a:schemeClr val="accent1">
                  <a:alpha val="90000"/>
                </a:schemeClr>
              </a:gs>
              <a:gs pos="100000">
                <a:schemeClr val="accent3">
                  <a:alpha val="8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EEC6E84-32B7-4BA0-9E5B-8562AB971D7A}"/>
              </a:ext>
            </a:extLst>
          </p:cNvPr>
          <p:cNvSpPr txBox="1"/>
          <p:nvPr/>
        </p:nvSpPr>
        <p:spPr>
          <a:xfrm>
            <a:off x="2383435" y="3044279"/>
            <a:ext cx="741263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dirty="0">
                <a:solidFill>
                  <a:schemeClr val="bg1"/>
                </a:solidFill>
                <a:latin typeface="Sora ExtraLight" pitchFamily="2" charset="0"/>
                <a:cs typeface="Sora ExtraLight" pitchFamily="2" charset="0"/>
              </a:rPr>
              <a:t>Les Evaluations</a:t>
            </a:r>
          </a:p>
          <a:p>
            <a:pPr algn="ctr"/>
            <a:r>
              <a:rPr lang="fr-FR" sz="4400" dirty="0">
                <a:solidFill>
                  <a:schemeClr val="bg1"/>
                </a:solidFill>
                <a:latin typeface="Sora ExtraLight" pitchFamily="2" charset="0"/>
                <a:cs typeface="Sora ExtraLight" pitchFamily="2" charset="0"/>
              </a:rPr>
              <a:t>PORTFOLIO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D6C83F3B-0948-4907-A1ED-10C25FAD7863}"/>
              </a:ext>
            </a:extLst>
          </p:cNvPr>
          <p:cNvSpPr txBox="1"/>
          <p:nvPr/>
        </p:nvSpPr>
        <p:spPr>
          <a:xfrm>
            <a:off x="11112829" y="-1"/>
            <a:ext cx="90281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fr-FR" sz="8800" dirty="0">
                <a:solidFill>
                  <a:schemeClr val="bg1"/>
                </a:solidFill>
                <a:latin typeface="Sora ExtraBold" pitchFamily="2" charset="0"/>
                <a:cs typeface="Sora ExtraBold" pitchFamily="2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21381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D3CD38-2BEC-420B-9360-9D0F7A96BF28}"/>
              </a:ext>
            </a:extLst>
          </p:cNvPr>
          <p:cNvSpPr/>
          <p:nvPr/>
        </p:nvSpPr>
        <p:spPr bwMode="auto">
          <a:xfrm>
            <a:off x="965667" y="209537"/>
            <a:ext cx="10060400" cy="75097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21154A"/>
                </a:solidFill>
                <a:effectLst/>
                <a:uLnTx/>
                <a:uFillTx/>
                <a:latin typeface="Sora ExtraLight" pitchFamily="2" charset="0"/>
                <a:ea typeface="+mn-ea"/>
                <a:cs typeface="Sora ExtraLight" pitchFamily="2" charset="0"/>
              </a:rPr>
              <a:t>Portfolio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>
                <a:ln>
                  <a:noFill/>
                </a:ln>
                <a:solidFill>
                  <a:srgbClr val="21154A"/>
                </a:solidFill>
                <a:effectLst/>
                <a:uLnTx/>
                <a:uFillTx/>
                <a:latin typeface="Sora ExtraBold" pitchFamily="2" charset="0"/>
                <a:ea typeface="+mn-ea"/>
                <a:cs typeface="Sora ExtraBold" pitchFamily="2" charset="0"/>
              </a:rPr>
              <a:t>L</a:t>
            </a:r>
            <a:r>
              <a:rPr kumimoji="0" lang="fr-FR" sz="4000" b="0" i="0" u="none" strike="noStrike" kern="1200" cap="none" spc="0" normalizeH="0" baseline="0" noProof="0" dirty="0">
                <a:ln>
                  <a:noFill/>
                </a:ln>
                <a:solidFill>
                  <a:srgbClr val="21154A"/>
                </a:solidFill>
                <a:effectLst/>
                <a:uLnTx/>
                <a:uFillTx/>
                <a:latin typeface="Sora ExtraBold" pitchFamily="2" charset="0"/>
                <a:ea typeface="+mn-ea"/>
                <a:cs typeface="+mn-cs"/>
              </a:rPr>
              <a:t>’Evaluation</a:t>
            </a:r>
            <a:r>
              <a:rPr kumimoji="0" lang="fr-FR" sz="4000" b="0" i="0" u="none" strike="noStrike" kern="1200" cap="none" spc="0" normalizeH="0" baseline="0" noProof="0" dirty="0">
                <a:ln>
                  <a:noFill/>
                </a:ln>
                <a:solidFill>
                  <a:srgbClr val="6F938C"/>
                </a:solidFill>
                <a:effectLst/>
                <a:uLnTx/>
                <a:uFillTx/>
                <a:latin typeface="Sora ExtraBold" pitchFamily="2" charset="0"/>
                <a:ea typeface="+mn-ea"/>
                <a:cs typeface="Sora ExtraBold" pitchFamily="2" charset="0"/>
              </a:rPr>
              <a:t> Portfolio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srgbClr val="21154A"/>
              </a:solidFill>
              <a:effectLst/>
              <a:uLnTx/>
              <a:uFillTx/>
              <a:latin typeface="Barlow" panose="00000500000000000000" pitchFamily="2" charset="0"/>
              <a:ea typeface="+mn-ea"/>
              <a:cs typeface="Sora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srgbClr val="6F938C"/>
                </a:solidFill>
                <a:effectLst/>
                <a:uLnTx/>
                <a:uFillTx/>
                <a:latin typeface="Barlow" panose="00000500000000000000" pitchFamily="2" charset="0"/>
                <a:ea typeface="+mn-ea"/>
                <a:cs typeface="Sora" pitchFamily="2" charset="0"/>
              </a:rPr>
              <a:t>Semestre 3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C7504F"/>
                </a:solidFill>
                <a:effectLst/>
                <a:uLnTx/>
                <a:uFillTx/>
                <a:latin typeface="Barlow" panose="00000500000000000000" pitchFamily="2" charset="0"/>
                <a:ea typeface="+mn-ea"/>
                <a:cs typeface="Sora" pitchFamily="2" charset="0"/>
              </a:rPr>
              <a:t>Soutenance Orale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1154A"/>
                </a:solidFill>
                <a:effectLst/>
                <a:uLnTx/>
                <a:uFillTx/>
                <a:latin typeface="Barlow" panose="00000500000000000000" pitchFamily="2" charset="0"/>
                <a:ea typeface="+mn-ea"/>
                <a:cs typeface="Sora" pitchFamily="2" charset="0"/>
              </a:rPr>
              <a:t>Justifier vos compétences, acquises ou non durant les </a:t>
            </a: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1154A"/>
                </a:solidFill>
                <a:effectLst/>
                <a:uLnTx/>
                <a:uFillTx/>
                <a:latin typeface="Barlow" panose="00000500000000000000" pitchFamily="2" charset="0"/>
                <a:ea typeface="+mn-ea"/>
                <a:cs typeface="Sora" pitchFamily="2" charset="0"/>
              </a:rPr>
              <a:t>SAEs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21154A"/>
                </a:solidFill>
                <a:effectLst/>
                <a:uLnTx/>
                <a:uFillTx/>
                <a:latin typeface="Barlow" panose="00000500000000000000" pitchFamily="2" charset="0"/>
                <a:ea typeface="+mn-ea"/>
                <a:cs typeface="Sora" pitchFamily="2" charset="0"/>
              </a:rPr>
              <a:t> : Preuves et analyses réflexives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srgbClr val="21154A"/>
              </a:solidFill>
              <a:effectLst/>
              <a:uLnTx/>
              <a:uFillTx/>
              <a:latin typeface="Barlow" panose="00000500000000000000" pitchFamily="2" charset="0"/>
              <a:ea typeface="+mn-ea"/>
              <a:cs typeface="Sora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srgbClr val="21154A"/>
              </a:solidFill>
              <a:effectLst/>
              <a:uLnTx/>
              <a:uFillTx/>
              <a:latin typeface="Barlow" panose="00000500000000000000" pitchFamily="2" charset="0"/>
              <a:ea typeface="+mn-ea"/>
              <a:cs typeface="Sora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Support E-Portfolio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Durée de la présentation : 10 min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Durée des questions du jury : 5 min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srgbClr val="21154A"/>
              </a:solidFill>
              <a:effectLst/>
              <a:uLnTx/>
              <a:uFillTx/>
              <a:latin typeface="Barlow" panose="00000500000000000000" pitchFamily="2" charset="0"/>
              <a:ea typeface="+mn-ea"/>
              <a:cs typeface="Sora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C7504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 contenu 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Introduction,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Pour chaque compétence 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Présentation des apprentissages critiques travaillés lors d’une SAE (ou plusieurs </a:t>
            </a:r>
            <a:r>
              <a:rPr kumimoji="0" lang="fr-FR" sz="16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SAEs</a:t>
            </a:r>
            <a:r>
              <a:rPr kumimoji="0" lang="fr-FR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lang="fr-FR" sz="1600" b="1" i="1" u="none" strike="noStrike" kern="1200" cap="none" spc="0" normalizeH="0" baseline="0" noProof="0" dirty="0">
                <a:ln>
                  <a:noFill/>
                </a:ln>
                <a:solidFill>
                  <a:srgbClr val="C7504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Description du projet 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1" u="none" strike="noStrike" kern="1200" cap="none" spc="0" normalizeH="0" baseline="0" noProof="0" dirty="0">
                <a:ln>
                  <a:noFill/>
                </a:ln>
                <a:solidFill>
                  <a:srgbClr val="C7504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Présentation et justification des résultats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Conclusion avec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auto évaluation sur les apprentissages critiques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Et analyse Réflexive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lang="fr-FR" sz="1600" b="0" i="1" u="none" strike="noStrike" kern="1200" cap="none" spc="0" normalizeH="0" baseline="0" noProof="0" dirty="0">
                <a:ln>
                  <a:noFill/>
                </a:ln>
                <a:solidFill>
                  <a:srgbClr val="64847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Remarque :</a:t>
            </a:r>
            <a:r>
              <a:rPr kumimoji="0" lang="fr-FR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si lors d’une SAE, vous avez travaillé et acquis des apprentissages critiques appartenant à plusieurs compétences alors adapter votre E-Portfolio et votre présentation par SAE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Conclusion Générale sur l’acquisition de compétences au S5 avec analyse réflexive globale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srgbClr val="21154A"/>
              </a:solidFill>
              <a:effectLst/>
              <a:uLnTx/>
              <a:uFillTx/>
              <a:latin typeface="Barlow" panose="00000500000000000000" pitchFamily="2" charset="0"/>
              <a:ea typeface="+mn-ea"/>
              <a:cs typeface="Sora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srgbClr val="21154A"/>
              </a:solidFill>
              <a:effectLst/>
              <a:uLnTx/>
              <a:uFillTx/>
              <a:latin typeface="Barlow" panose="00000500000000000000" pitchFamily="2" charset="0"/>
              <a:ea typeface="+mn-ea"/>
              <a:cs typeface="Sora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rgbClr val="21154A"/>
              </a:solidFill>
              <a:effectLst/>
              <a:uLnTx/>
              <a:uFillTx/>
              <a:latin typeface="Barlow" panose="00000500000000000000" pitchFamily="2" charset="0"/>
              <a:ea typeface="+mn-ea"/>
              <a:cs typeface="Sora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rgbClr val="21154A"/>
              </a:solidFill>
              <a:effectLst/>
              <a:uLnTx/>
              <a:uFillTx/>
              <a:latin typeface="Barlow" panose="00000500000000000000" pitchFamily="2" charset="0"/>
              <a:ea typeface="+mn-ea"/>
              <a:cs typeface="Sora" pitchFamily="2" charset="0"/>
            </a:endParaRPr>
          </a:p>
        </p:txBody>
      </p:sp>
      <p:sp>
        <p:nvSpPr>
          <p:cNvPr id="2" name="Accolade fermante 1">
            <a:extLst>
              <a:ext uri="{FF2B5EF4-FFF2-40B4-BE49-F238E27FC236}">
                <a16:creationId xmlns:a16="http://schemas.microsoft.com/office/drawing/2014/main" id="{8F86CF7A-E49C-4A62-8D24-58CFD68FF5DB}"/>
              </a:ext>
            </a:extLst>
          </p:cNvPr>
          <p:cNvSpPr/>
          <p:nvPr/>
        </p:nvSpPr>
        <p:spPr>
          <a:xfrm>
            <a:off x="5575177" y="4545367"/>
            <a:ext cx="328473" cy="488272"/>
          </a:xfrm>
          <a:prstGeom prst="rightBrac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414ED92-A678-4A16-8B64-31C78807EDDF}"/>
              </a:ext>
            </a:extLst>
          </p:cNvPr>
          <p:cNvSpPr txBox="1"/>
          <p:nvPr/>
        </p:nvSpPr>
        <p:spPr>
          <a:xfrm>
            <a:off x="6096000" y="4604837"/>
            <a:ext cx="3258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 dirty="0">
                <a:ln>
                  <a:noFill/>
                </a:ln>
                <a:solidFill>
                  <a:srgbClr val="C7504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document de preuves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C7504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25429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ZoneTexte 14">
            <a:extLst>
              <a:ext uri="{FF2B5EF4-FFF2-40B4-BE49-F238E27FC236}">
                <a16:creationId xmlns:a16="http://schemas.microsoft.com/office/drawing/2014/main" id="{09527504-7173-4C87-B18C-9F204624FDE5}"/>
              </a:ext>
            </a:extLst>
          </p:cNvPr>
          <p:cNvSpPr txBox="1"/>
          <p:nvPr/>
        </p:nvSpPr>
        <p:spPr>
          <a:xfrm>
            <a:off x="6787997" y="626407"/>
            <a:ext cx="49732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1200" b="1" dirty="0">
              <a:latin typeface="Sora" pitchFamily="2" charset="0"/>
              <a:cs typeface="Sora" pitchFamily="2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14106CF-F981-47A8-B90E-738C87547AD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86400" y="1845723"/>
            <a:ext cx="6705599" cy="501227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533546" y="0"/>
            <a:ext cx="10658453" cy="6858000"/>
          </a:xfrm>
          <a:prstGeom prst="rect">
            <a:avLst/>
          </a:pr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/>
          <p:cNvSpPr txBox="1"/>
          <p:nvPr/>
        </p:nvSpPr>
        <p:spPr>
          <a:xfrm>
            <a:off x="216220" y="6059068"/>
            <a:ext cx="4695414" cy="615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700"/>
              </a:lnSpc>
            </a:pPr>
            <a:endParaRPr lang="fr-FR" sz="2000" dirty="0">
              <a:solidFill>
                <a:schemeClr val="bg1"/>
              </a:solidFill>
              <a:latin typeface="Sora" pitchFamily="2" charset="0"/>
              <a:cs typeface="Sora" pitchFamily="2" charset="0"/>
            </a:endParaRPr>
          </a:p>
        </p:txBody>
      </p:sp>
      <p:pic>
        <p:nvPicPr>
          <p:cNvPr id="1026" name="Picture 2" descr="C:\Users\TABLETTE-GIM1\Nextcloud\Documents\IUT\_CDM_communication\charte graphique\Charte graphique 2023-24\LOGO 2023\IUT.ROANNE-LOGO-BLANC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64364" y="2668437"/>
            <a:ext cx="3435928" cy="1521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050431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Personnalisé 6">
      <a:dk1>
        <a:sysClr val="windowText" lastClr="000000"/>
      </a:dk1>
      <a:lt1>
        <a:sysClr val="window" lastClr="FFFFFF"/>
      </a:lt1>
      <a:dk2>
        <a:srgbClr val="64847E"/>
      </a:dk2>
      <a:lt2>
        <a:srgbClr val="3C2985"/>
      </a:lt2>
      <a:accent1>
        <a:srgbClr val="6F938C"/>
      </a:accent1>
      <a:accent2>
        <a:srgbClr val="86B2A9"/>
      </a:accent2>
      <a:accent3>
        <a:srgbClr val="FEDB03"/>
      </a:accent3>
      <a:accent4>
        <a:srgbClr val="EAAA00"/>
      </a:accent4>
      <a:accent5>
        <a:srgbClr val="21154A"/>
      </a:accent5>
      <a:accent6>
        <a:srgbClr val="C7504F"/>
      </a:accent6>
      <a:hlink>
        <a:srgbClr val="000000"/>
      </a:hlink>
      <a:folHlink>
        <a:srgbClr val="00000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ception personnalisée">
  <a:themeElements>
    <a:clrScheme name="Personnalisé 6">
      <a:dk1>
        <a:sysClr val="windowText" lastClr="000000"/>
      </a:dk1>
      <a:lt1>
        <a:sysClr val="window" lastClr="FFFFFF"/>
      </a:lt1>
      <a:dk2>
        <a:srgbClr val="64847E"/>
      </a:dk2>
      <a:lt2>
        <a:srgbClr val="3C2985"/>
      </a:lt2>
      <a:accent1>
        <a:srgbClr val="6F938C"/>
      </a:accent1>
      <a:accent2>
        <a:srgbClr val="86B2A9"/>
      </a:accent2>
      <a:accent3>
        <a:srgbClr val="FEDB03"/>
      </a:accent3>
      <a:accent4>
        <a:srgbClr val="EAAA00"/>
      </a:accent4>
      <a:accent5>
        <a:srgbClr val="21154A"/>
      </a:accent5>
      <a:accent6>
        <a:srgbClr val="C7504F"/>
      </a:accent6>
      <a:hlink>
        <a:srgbClr val="000000"/>
      </a:hlink>
      <a:folHlink>
        <a:srgbClr val="00000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vide">
  <a:themeElements>
    <a:clrScheme name="Personnalisé 6">
      <a:dk1>
        <a:sysClr val="windowText" lastClr="000000"/>
      </a:dk1>
      <a:lt1>
        <a:sysClr val="window" lastClr="FFFFFF"/>
      </a:lt1>
      <a:dk2>
        <a:srgbClr val="64847E"/>
      </a:dk2>
      <a:lt2>
        <a:srgbClr val="3C2985"/>
      </a:lt2>
      <a:accent1>
        <a:srgbClr val="6F938C"/>
      </a:accent1>
      <a:accent2>
        <a:srgbClr val="86B2A9"/>
      </a:accent2>
      <a:accent3>
        <a:srgbClr val="FEDB03"/>
      </a:accent3>
      <a:accent4>
        <a:srgbClr val="EAAA00"/>
      </a:accent4>
      <a:accent5>
        <a:srgbClr val="21154A"/>
      </a:accent5>
      <a:accent6>
        <a:srgbClr val="C7504F"/>
      </a:accent6>
      <a:hlink>
        <a:srgbClr val="000000"/>
      </a:hlink>
      <a:folHlink>
        <a:srgbClr val="00000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Conception personnalisée">
  <a:themeElements>
    <a:clrScheme name="Personnalisé 6">
      <a:dk1>
        <a:sysClr val="windowText" lastClr="000000"/>
      </a:dk1>
      <a:lt1>
        <a:sysClr val="window" lastClr="FFFFFF"/>
      </a:lt1>
      <a:dk2>
        <a:srgbClr val="64847E"/>
      </a:dk2>
      <a:lt2>
        <a:srgbClr val="3C2985"/>
      </a:lt2>
      <a:accent1>
        <a:srgbClr val="6F938C"/>
      </a:accent1>
      <a:accent2>
        <a:srgbClr val="86B2A9"/>
      </a:accent2>
      <a:accent3>
        <a:srgbClr val="FEDB03"/>
      </a:accent3>
      <a:accent4>
        <a:srgbClr val="EAAA00"/>
      </a:accent4>
      <a:accent5>
        <a:srgbClr val="21154A"/>
      </a:accent5>
      <a:accent6>
        <a:srgbClr val="C7504F"/>
      </a:accent6>
      <a:hlink>
        <a:srgbClr val="000000"/>
      </a:hlink>
      <a:folHlink>
        <a:srgbClr val="00000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5170</TotalTime>
  <Words>987</Words>
  <Application>Microsoft Office PowerPoint</Application>
  <PresentationFormat>Grand écran</PresentationFormat>
  <Paragraphs>248</Paragraphs>
  <Slides>22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4</vt:i4>
      </vt:variant>
      <vt:variant>
        <vt:lpstr>Titres des diapositives</vt:lpstr>
      </vt:variant>
      <vt:variant>
        <vt:i4>22</vt:i4>
      </vt:variant>
    </vt:vector>
  </HeadingPairs>
  <TitlesOfParts>
    <vt:vector size="34" baseType="lpstr">
      <vt:lpstr>Arial</vt:lpstr>
      <vt:lpstr>Barlow</vt:lpstr>
      <vt:lpstr>Calibri</vt:lpstr>
      <vt:lpstr>Sora</vt:lpstr>
      <vt:lpstr>Sora ExtraBold</vt:lpstr>
      <vt:lpstr>Sora ExtraLight</vt:lpstr>
      <vt:lpstr>Sora SemiBold</vt:lpstr>
      <vt:lpstr>Wingdings</vt:lpstr>
      <vt:lpstr>Thème Office</vt:lpstr>
      <vt:lpstr>Conception personnalisée</vt:lpstr>
      <vt:lpstr>vide</vt:lpstr>
      <vt:lpstr>1_Conception personnalisée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Evelyne Lefevre</dc:creator>
  <cp:lastModifiedBy>Pierre-Jean Matichard</cp:lastModifiedBy>
  <cp:revision>410</cp:revision>
  <cp:lastPrinted>2023-10-10T08:50:58Z</cp:lastPrinted>
  <dcterms:created xsi:type="dcterms:W3CDTF">2023-07-15T07:52:26Z</dcterms:created>
  <dcterms:modified xsi:type="dcterms:W3CDTF">2025-09-19T07:48:29Z</dcterms:modified>
</cp:coreProperties>
</file>